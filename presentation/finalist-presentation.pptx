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predicting each customer's probability of default next month, scored by binary log loss, so calibration matters as much as ranking. Twenty-four thousand labelled customers, six thousand held out, twenty-three raw columns, a 22.12 percent default rate. Our final hidden-test log loss is 0.40982, from a blend of 0.45 LightGBM, 0.30 GRU, and 0.25 TabPFN.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had no missing values and no malformed rows. Cleaning stayed deliberately narrow. EDUCATION codes 0, 5, and 6 got grouped into "other", 290 rows; MARRIAGE code 0 grouped into "other", 42 rows. We kept PAY status values of minus 1 and minus 2 as features, since they mean paid-in-full and inactive account, not missing data. No outlier removal, since large balances can be genuine signal. No resampling, since changing the 22 percent base rate would hurt calibration. Twenty-three raw columns became 81 engineered features.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gives statement balances and payments, but never states what a customer actually spent. So we worked it out ourselves. New activity equals current bill minus previous bill plus payment. That matters because a rising balance from new spending is a different risk story than a rising balance from missed payments. This one feature family improved out-of-fold log loss by 0.00046 and hidden-test log loss by 0.00173, the largest gain of the project. Six other feature families we tried never cleared our 0.0005 noise threshold.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41 experiments across 10 model families, 7 feature families, and 135 LightGBM configurations. Only a handful of decisions actually moved the needle. We switched from AUC to log loss, added a GRU to preserve month-to-month order, added the spending decomposition, the biggest single jump, then added TabPFN. Score fell from 0.41260 to 0.40982. Plenty of experiments went nowhere. 135 LightGBM configs found nothing reliable, a 1D-CNN just duplicated the GRU's signal, a survival model improved out-of-fold but got worse on hidden test so we dropped it, and isotonic calibration looked great until nested cross-validation revealed it was leakage. Disagreement between models only helps when it carries real signal.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models, three different views of the same customer. LightGBM carries the most weight and reads 81 engineered features as one aggregate profile. The GRU reads six months as an ordered sequence, telling recovery apart from deterioration. TabPFN applies a pretrained prior, with zero parameters fit to our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share identical cross-validation folds, so a 0.0005 gap is just noise. The blend reaches 0.42136 out-of-fold and 0.40982 on hidden test, a plain weighted average, no calibration, just a clip to the probability bounds.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predictors are all about recent, severe delinquency, low available credit, and weak payment coverage. This SHAP view explains the LightGBM component specifically, not the full ensemble. But the model has real blind spots. Our twenty worst-predicted customers all defaulted despite scoring just 2 to 4 percent risk, every one with a clean payment history, meaning the real driver isn't in this data at all. And the EDUCATION "other" subgroup, 387 customers, 28 defaults, gets over-predicted by about 61 percent, with an AUC of just 0.645 against roughly 0.79 elsewhere. That subgroup shouldn't drive automated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probabilities should support manual review, early customer assistance, limit monitoring, and portfolio prioritization, not function as an automatic approve or decline rule. A false positive means a reliable customer faces unnecessary friction; a false negative means a missed default and a missed chance to help early. Thresholds should come from business cost and review capacity, not the competition score. Some defaults aren't predictable from this data, one subgroup is unreliable, and TabPFN adds licensing and compute cost for a small gain. Understanding the account mechanics and validating carefully mattered more than adding model complexity.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STREAM 1 · CREDIT CARD DEFAULT</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Overview</a:t>
            </a:r>
          </a:p>
        </p:txBody>
      </p:sp>
      <p:sp>
        <p:nvSpPr>
          <p:cNvPr id="5" name="TextBox 4"/>
          <p:cNvSpPr txBox="1"/>
          <p:nvPr/>
        </p:nvSpPr>
        <p:spPr>
          <a:xfrm>
            <a:off x="640080" y="1600200"/>
            <a:ext cx="5120640" cy="457200"/>
          </a:xfrm>
          <a:prstGeom prst="rect">
            <a:avLst/>
          </a:prstGeom>
          <a:noFill/>
        </p:spPr>
        <p:txBody>
          <a:bodyPr wrap="square" anchor="t" lIns="0" rIns="0" tIns="0" bIns="0">
            <a:spAutoFit/>
          </a:bodyPr>
          <a:lstStyle/>
          <a:p>
            <a:pPr algn="l">
              <a:lnSpc>
                <a:spcPct val="100000"/>
              </a:lnSpc>
            </a:pPr>
            <a:r>
              <a:rPr sz="1900" b="0" i="0">
                <a:solidFill>
                  <a:srgbClr val="6E6E73"/>
                </a:solidFill>
                <a:latin typeface="Helvetica Neue"/>
              </a:rPr>
              <a:t>Predict each customer's probability of default next month.</a:t>
            </a:r>
          </a:p>
        </p:txBody>
      </p:sp>
      <p:sp>
        <p:nvSpPr>
          <p:cNvPr id="6" name="TextBox 5"/>
          <p:cNvSpPr txBox="1"/>
          <p:nvPr/>
        </p:nvSpPr>
        <p:spPr>
          <a:xfrm>
            <a:off x="640080" y="2148840"/>
            <a:ext cx="5120640" cy="2377440"/>
          </a:xfrm>
          <a:prstGeom prst="rect">
            <a:avLst/>
          </a:prstGeom>
          <a:noFill/>
        </p:spPr>
        <p:txBody>
          <a:bodyPr wrap="square" lIns="0" rIns="0" tIns="0" bIns="0">
            <a:spAutoFit/>
          </a:bodyPr>
          <a:lstStyle/>
          <a:p>
            <a:pPr>
              <a:lnSpc>
                <a:spcPct val="108000"/>
              </a:lnSpc>
              <a:spcAft>
                <a:spcPts val="1000"/>
              </a:spcAft>
            </a:pPr>
            <a:r>
              <a:rPr sz="1700">
                <a:solidFill>
                  <a:srgbClr val="1D1D1F"/>
                </a:solidFill>
                <a:latin typeface="Helvetica Neue"/>
              </a:rPr>
              <a:t>-  Binary log loss, probability quality and calibration matter, not just ranking.</a:t>
            </a:r>
          </a:p>
          <a:p>
            <a:pPr>
              <a:lnSpc>
                <a:spcPct val="108000"/>
              </a:lnSpc>
              <a:spcAft>
                <a:spcPts val="1000"/>
              </a:spcAft>
            </a:pPr>
            <a:r>
              <a:rPr sz="1700">
                <a:solidFill>
                  <a:srgbClr val="1D1D1F"/>
                </a:solidFill>
                <a:latin typeface="Helvetica Neue"/>
              </a:rPr>
              <a:t>-  24,000 labelled customers, 6,000 test customers, 23 raw columns, 22.12% default rate.</a:t>
            </a:r>
          </a:p>
          <a:p>
            <a:pPr>
              <a:lnSpc>
                <a:spcPct val="108000"/>
              </a:lnSpc>
              <a:spcAft>
                <a:spcPts val="1000"/>
              </a:spcAft>
            </a:pPr>
            <a:r>
              <a:rPr sz="1700">
                <a:solidFill>
                  <a:srgbClr val="1D1D1F"/>
                </a:solidFill>
                <a:latin typeface="Helvetica Neue"/>
              </a:rPr>
              <a:t>-  Final model: 0.45 LightGBM + 0.30 GRU + 0.25 TabPFN.</a:t>
            </a:r>
          </a:p>
          <a:p>
            <a:pPr>
              <a:lnSpc>
                <a:spcPct val="108000"/>
              </a:lnSpc>
              <a:spcAft>
                <a:spcPts val="1000"/>
              </a:spcAft>
            </a:pPr>
            <a:r>
              <a:rPr sz="1700">
                <a:solidFill>
                  <a:srgbClr val="1D1D1F"/>
                </a:solidFill>
                <a:latin typeface="Helvetica Neue"/>
              </a:rPr>
              <a:t>-  Final submission: submission_tabpfn6.csv.</a:t>
            </a:r>
          </a:p>
        </p:txBody>
      </p:sp>
      <p:sp>
        <p:nvSpPr>
          <p:cNvPr id="7" name="Rounded Rectangle 6"/>
          <p:cNvSpPr/>
          <p:nvPr/>
        </p:nvSpPr>
        <p:spPr>
          <a:xfrm>
            <a:off x="7040880" y="1600200"/>
            <a:ext cx="4480560" cy="1920240"/>
          </a:xfrm>
          <a:prstGeom prst="roundRect">
            <a:avLst>
              <a:gd name="adj" fmla="val 6000"/>
            </a:avLst>
          </a:prstGeom>
          <a:solidFill>
            <a:srgbClr val="E8F2FF"/>
          </a:solidFill>
          <a:ln w="15875">
            <a:solidFill>
              <a:srgbClr val="007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783080"/>
            <a:ext cx="4480560" cy="365760"/>
          </a:xfrm>
          <a:prstGeom prst="rect">
            <a:avLst/>
          </a:prstGeom>
          <a:noFill/>
        </p:spPr>
        <p:txBody>
          <a:bodyPr wrap="square" anchor="t" lIns="0" rIns="0" tIns="0" bIns="0">
            <a:spAutoFit/>
          </a:bodyPr>
          <a:lstStyle/>
          <a:p>
            <a:pPr algn="ctr">
              <a:lnSpc>
                <a:spcPct val="100000"/>
              </a:lnSpc>
            </a:pPr>
            <a:r>
              <a:rPr sz="1300" b="1" i="0">
                <a:solidFill>
                  <a:srgbClr val="0057B8"/>
                </a:solidFill>
                <a:latin typeface="Helvetica Neue"/>
              </a:rPr>
              <a:t>HIDDEN-TEST LOG LOSS</a:t>
            </a:r>
          </a:p>
        </p:txBody>
      </p:sp>
      <p:sp>
        <p:nvSpPr>
          <p:cNvPr id="9" name="TextBox 8"/>
          <p:cNvSpPr txBox="1"/>
          <p:nvPr/>
        </p:nvSpPr>
        <p:spPr>
          <a:xfrm>
            <a:off x="7040880" y="2148840"/>
            <a:ext cx="4480560" cy="1188720"/>
          </a:xfrm>
          <a:prstGeom prst="rect">
            <a:avLst/>
          </a:prstGeom>
          <a:noFill/>
        </p:spPr>
        <p:txBody>
          <a:bodyPr wrap="square" anchor="t" lIns="0" rIns="0" tIns="0" bIns="0">
            <a:spAutoFit/>
          </a:bodyPr>
          <a:lstStyle/>
          <a:p>
            <a:pPr algn="ctr">
              <a:lnSpc>
                <a:spcPct val="100000"/>
              </a:lnSpc>
            </a:pPr>
            <a:r>
              <a:rPr sz="6400" b="1" i="0">
                <a:solidFill>
                  <a:srgbClr val="0057B8"/>
                </a:solidFill>
                <a:latin typeface="Helvetica Neue"/>
              </a:rPr>
              <a:t>0.40982</a:t>
            </a:r>
          </a:p>
        </p:txBody>
      </p:sp>
      <p:pic>
        <p:nvPicPr>
          <p:cNvPr id="10" name="Picture 9" descr="pipeline.png"/>
          <p:cNvPicPr>
            <a:picLocks noChangeAspect="1"/>
          </p:cNvPicPr>
          <p:nvPr/>
        </p:nvPicPr>
        <p:blipFill>
          <a:blip r:embed="rId2"/>
          <a:stretch>
            <a:fillRect/>
          </a:stretch>
        </p:blipFill>
        <p:spPr>
          <a:xfrm>
            <a:off x="821612" y="4114800"/>
            <a:ext cx="10548470" cy="1828800"/>
          </a:xfrm>
          <a:prstGeom prst="rect">
            <a:avLst/>
          </a:prstGeom>
        </p:spPr>
      </p:pic>
      <p:sp>
        <p:nvSpPr>
          <p:cNvPr id="11" name="TextBox 10"/>
          <p:cNvSpPr txBox="1"/>
          <p:nvPr/>
        </p:nvSpPr>
        <p:spPr>
          <a:xfrm>
            <a:off x="640080" y="6035040"/>
            <a:ext cx="10881360" cy="457200"/>
          </a:xfrm>
          <a:prstGeom prst="rect">
            <a:avLst/>
          </a:prstGeom>
          <a:noFill/>
        </p:spPr>
        <p:txBody>
          <a:bodyPr wrap="square" anchor="t" lIns="0" rIns="0" tIns="0" bIns="0">
            <a:spAutoFit/>
          </a:bodyPr>
          <a:lstStyle/>
          <a:p>
            <a:pPr algn="l">
              <a:lnSpc>
                <a:spcPct val="100000"/>
              </a:lnSpc>
            </a:pPr>
            <a:r>
              <a:rPr sz="1500" b="0" i="1">
                <a:solidFill>
                  <a:srgbClr val="6E6E73"/>
                </a:solidFill>
                <a:latin typeface="Helvetica Neue"/>
              </a:rPr>
              <a:t>The result came from combining three complementary views of each customer.</a:t>
            </a:r>
          </a:p>
        </p:txBody>
      </p:sp>
      <p:sp>
        <p:nvSpPr>
          <p:cNvPr id="12" name="TextBox 11"/>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PREPARATION</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Data Cleaning</a:t>
            </a:r>
          </a:p>
        </p:txBody>
      </p:sp>
      <p:sp>
        <p:nvSpPr>
          <p:cNvPr id="5" name="Rounded Rectangle 4"/>
          <p:cNvSpPr/>
          <p:nvPr/>
        </p:nvSpPr>
        <p:spPr>
          <a:xfrm>
            <a:off x="640080" y="1600200"/>
            <a:ext cx="5212080" cy="21488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728216"/>
            <a:ext cx="914400" cy="457200"/>
          </a:xfrm>
          <a:prstGeom prst="rect">
            <a:avLst/>
          </a:prstGeom>
          <a:noFill/>
        </p:spPr>
        <p:txBody>
          <a:bodyPr wrap="square" anchor="t" lIns="0" rIns="0" tIns="0" bIns="0">
            <a:spAutoFit/>
          </a:bodyPr>
          <a:lstStyle/>
          <a:p>
            <a:pPr algn="l">
              <a:lnSpc>
                <a:spcPct val="100000"/>
              </a:lnSpc>
            </a:pPr>
            <a:r>
              <a:rPr sz="3000" b="1" i="0">
                <a:solidFill>
                  <a:srgbClr val="D2D2D7"/>
                </a:solidFill>
                <a:latin typeface="Helvetica Neue"/>
              </a:rPr>
              <a:t>01</a:t>
            </a:r>
          </a:p>
        </p:txBody>
      </p:sp>
      <p:sp>
        <p:nvSpPr>
          <p:cNvPr id="7" name="TextBox 6"/>
          <p:cNvSpPr txBox="1"/>
          <p:nvPr/>
        </p:nvSpPr>
        <p:spPr>
          <a:xfrm>
            <a:off x="841248" y="2167128"/>
            <a:ext cx="4809744" cy="36576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Repayment Status</a:t>
            </a:r>
          </a:p>
        </p:txBody>
      </p:sp>
      <p:sp>
        <p:nvSpPr>
          <p:cNvPr id="8" name="TextBox 7"/>
          <p:cNvSpPr txBox="1"/>
          <p:nvPr/>
        </p:nvSpPr>
        <p:spPr>
          <a:xfrm>
            <a:off x="841248" y="2560320"/>
            <a:ext cx="4809744" cy="1051560"/>
          </a:xfrm>
          <a:prstGeom prst="rect">
            <a:avLst/>
          </a:prstGeom>
          <a:noFill/>
        </p:spPr>
        <p:txBody>
          <a:bodyPr wrap="square" lIns="0" rIns="0" tIns="0" bIns="0">
            <a:spAutoFit/>
          </a:bodyPr>
          <a:lstStyle/>
          <a:p>
            <a:pPr>
              <a:lnSpc>
                <a:spcPct val="108000"/>
              </a:lnSpc>
              <a:spcAft>
                <a:spcPts val="700"/>
              </a:spcAft>
            </a:pPr>
            <a:r>
              <a:rPr sz="1150">
                <a:solidFill>
                  <a:srgbClr val="1D1D1F"/>
                </a:solidFill>
                <a:latin typeface="Helvetica Neue"/>
              </a:rPr>
              <a:t>-  PAY_0, PAY_2 through PAY_6 show months behind on payment.</a:t>
            </a:r>
          </a:p>
          <a:p>
            <a:pPr>
              <a:lnSpc>
                <a:spcPct val="108000"/>
              </a:lnSpc>
              <a:spcAft>
                <a:spcPts val="700"/>
              </a:spcAft>
            </a:pPr>
            <a:r>
              <a:rPr sz="1150">
                <a:solidFill>
                  <a:srgbClr val="1D1D1F"/>
                </a:solidFill>
                <a:latin typeface="Helvetica Neue"/>
              </a:rPr>
              <a:t>-  -2 = no balance, -1 = paid in full, 0 = paid minimum amount.</a:t>
            </a:r>
          </a:p>
          <a:p>
            <a:pPr>
              <a:lnSpc>
                <a:spcPct val="108000"/>
              </a:lnSpc>
              <a:spcAft>
                <a:spcPts val="700"/>
              </a:spcAft>
            </a:pPr>
            <a:r>
              <a:rPr sz="1150">
                <a:solidFill>
                  <a:srgbClr val="1D1D1F"/>
                </a:solidFill>
                <a:latin typeface="Helvetica Neue"/>
              </a:rPr>
              <a:t>-  Raw values stay untouched in the cleaned dataset, no grouping here.</a:t>
            </a:r>
          </a:p>
          <a:p>
            <a:pPr>
              <a:lnSpc>
                <a:spcPct val="108000"/>
              </a:lnSpc>
              <a:spcAft>
                <a:spcPts val="700"/>
              </a:spcAft>
            </a:pPr>
            <a:r>
              <a:rPr sz="1150">
                <a:solidFill>
                  <a:srgbClr val="1D1D1F"/>
                </a:solidFill>
                <a:latin typeface="Helvetica Neue"/>
              </a:rPr>
              <a:t>-  Aggregate lateness features (pay_max, n_late, trend_pay) clip -2/-1/0 to 0 only.</a:t>
            </a:r>
          </a:p>
          <a:p>
            <a:pPr>
              <a:lnSpc>
                <a:spcPct val="108000"/>
              </a:lnSpc>
              <a:spcAft>
                <a:spcPts val="700"/>
              </a:spcAft>
            </a:pPr>
            <a:r>
              <a:rPr sz="1150">
                <a:solidFill>
                  <a:srgbClr val="1D1D1F"/>
                </a:solidFill>
                <a:latin typeface="Helvetica Neue"/>
              </a:rPr>
              <a:t>-  ever_paid_full and never_used deliberately keep the original codes.</a:t>
            </a:r>
          </a:p>
        </p:txBody>
      </p:sp>
      <p:sp>
        <p:nvSpPr>
          <p:cNvPr id="9" name="Rounded Rectangle 8"/>
          <p:cNvSpPr/>
          <p:nvPr/>
        </p:nvSpPr>
        <p:spPr>
          <a:xfrm>
            <a:off x="6126480" y="1600200"/>
            <a:ext cx="5212080" cy="21488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7648" y="1728216"/>
            <a:ext cx="914400" cy="457200"/>
          </a:xfrm>
          <a:prstGeom prst="rect">
            <a:avLst/>
          </a:prstGeom>
          <a:noFill/>
        </p:spPr>
        <p:txBody>
          <a:bodyPr wrap="square" anchor="t" lIns="0" rIns="0" tIns="0" bIns="0">
            <a:spAutoFit/>
          </a:bodyPr>
          <a:lstStyle/>
          <a:p>
            <a:pPr algn="l">
              <a:lnSpc>
                <a:spcPct val="100000"/>
              </a:lnSpc>
            </a:pPr>
            <a:r>
              <a:rPr sz="3000" b="1" i="0">
                <a:solidFill>
                  <a:srgbClr val="D2D2D7"/>
                </a:solidFill>
                <a:latin typeface="Helvetica Neue"/>
              </a:rPr>
              <a:t>02</a:t>
            </a:r>
          </a:p>
        </p:txBody>
      </p:sp>
      <p:sp>
        <p:nvSpPr>
          <p:cNvPr id="11" name="TextBox 10"/>
          <p:cNvSpPr txBox="1"/>
          <p:nvPr/>
        </p:nvSpPr>
        <p:spPr>
          <a:xfrm>
            <a:off x="6327648" y="2167128"/>
            <a:ext cx="4809744" cy="365760"/>
          </a:xfrm>
          <a:prstGeom prst="rect">
            <a:avLst/>
          </a:prstGeom>
          <a:noFill/>
        </p:spPr>
        <p:txBody>
          <a:bodyPr wrap="square" anchor="t" lIns="0" rIns="0" tIns="0" bIns="0">
            <a:spAutoFit/>
          </a:bodyPr>
          <a:lstStyle/>
          <a:p>
            <a:pPr algn="l">
              <a:lnSpc>
                <a:spcPct val="100000"/>
              </a:lnSpc>
            </a:pPr>
            <a:r>
              <a:rPr sz="1700" b="1" i="0">
                <a:solidFill>
                  <a:srgbClr val="CB382D"/>
                </a:solidFill>
                <a:latin typeface="Helvetica Neue"/>
              </a:rPr>
              <a:t>Education</a:t>
            </a:r>
          </a:p>
        </p:txBody>
      </p:sp>
      <p:sp>
        <p:nvSpPr>
          <p:cNvPr id="12" name="TextBox 11"/>
          <p:cNvSpPr txBox="1"/>
          <p:nvPr/>
        </p:nvSpPr>
        <p:spPr>
          <a:xfrm>
            <a:off x="6327648" y="2560320"/>
            <a:ext cx="4809744" cy="1051560"/>
          </a:xfrm>
          <a:prstGeom prst="rect">
            <a:avLst/>
          </a:prstGeom>
          <a:noFill/>
        </p:spPr>
        <p:txBody>
          <a:bodyPr wrap="square" lIns="0" rIns="0" tIns="0" bIns="0">
            <a:spAutoFit/>
          </a:bodyPr>
          <a:lstStyle/>
          <a:p>
            <a:pPr>
              <a:lnSpc>
                <a:spcPct val="108000"/>
              </a:lnSpc>
              <a:spcAft>
                <a:spcPts val="700"/>
              </a:spcAft>
            </a:pPr>
            <a:r>
              <a:rPr sz="1150">
                <a:solidFill>
                  <a:srgbClr val="1D1D1F"/>
                </a:solidFill>
                <a:latin typeface="Helvetica Neue"/>
              </a:rPr>
              <a:t>-  1 = graduate school, 2 = university, 3 = high school, 4 = other (official codes).</a:t>
            </a:r>
          </a:p>
          <a:p>
            <a:pPr>
              <a:lnSpc>
                <a:spcPct val="108000"/>
              </a:lnSpc>
              <a:spcAft>
                <a:spcPts val="700"/>
              </a:spcAft>
            </a:pPr>
            <a:r>
              <a:rPr sz="1150">
                <a:solidFill>
                  <a:srgbClr val="1D1D1F"/>
                </a:solidFill>
                <a:latin typeface="Helvetica Neue"/>
              </a:rPr>
              <a:t>-  Undocumented codes 0, 5, 6 folded into "other" (4), 290 rows.</a:t>
            </a:r>
          </a:p>
          <a:p>
            <a:pPr>
              <a:lnSpc>
                <a:spcPct val="108000"/>
              </a:lnSpc>
              <a:spcAft>
                <a:spcPts val="700"/>
              </a:spcAft>
            </a:pPr>
            <a:r>
              <a:rPr sz="1150">
                <a:solidFill>
                  <a:srgbClr val="1D1D1F"/>
                </a:solidFill>
                <a:latin typeface="Helvetica Neue"/>
              </a:rPr>
              <a:t>-  Confirmed cost: "other" over-predicted about 61%, AUC 0.645 vs about 0.79 elsewhere.</a:t>
            </a:r>
          </a:p>
          <a:p>
            <a:pPr>
              <a:lnSpc>
                <a:spcPct val="108000"/>
              </a:lnSpc>
              <a:spcAft>
                <a:spcPts val="700"/>
              </a:spcAft>
            </a:pPr>
            <a:r>
              <a:rPr sz="1150">
                <a:solidFill>
                  <a:srgbClr val="1D1D1F"/>
                </a:solidFill>
                <a:latin typeface="Helvetica Neue"/>
              </a:rPr>
              <a:t>-  The only subgroup where the model underperforms its own base rate.</a:t>
            </a:r>
          </a:p>
        </p:txBody>
      </p:sp>
      <p:sp>
        <p:nvSpPr>
          <p:cNvPr id="13" name="Rounded Rectangle 12"/>
          <p:cNvSpPr/>
          <p:nvPr/>
        </p:nvSpPr>
        <p:spPr>
          <a:xfrm>
            <a:off x="640080" y="3977640"/>
            <a:ext cx="5212080" cy="21488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4105656"/>
            <a:ext cx="914400" cy="457200"/>
          </a:xfrm>
          <a:prstGeom prst="rect">
            <a:avLst/>
          </a:prstGeom>
          <a:noFill/>
        </p:spPr>
        <p:txBody>
          <a:bodyPr wrap="square" anchor="t" lIns="0" rIns="0" tIns="0" bIns="0">
            <a:spAutoFit/>
          </a:bodyPr>
          <a:lstStyle/>
          <a:p>
            <a:pPr algn="l">
              <a:lnSpc>
                <a:spcPct val="100000"/>
              </a:lnSpc>
            </a:pPr>
            <a:r>
              <a:rPr sz="3000" b="1" i="0">
                <a:solidFill>
                  <a:srgbClr val="D2D2D7"/>
                </a:solidFill>
                <a:latin typeface="Helvetica Neue"/>
              </a:rPr>
              <a:t>03</a:t>
            </a:r>
          </a:p>
        </p:txBody>
      </p:sp>
      <p:sp>
        <p:nvSpPr>
          <p:cNvPr id="15" name="TextBox 14"/>
          <p:cNvSpPr txBox="1"/>
          <p:nvPr/>
        </p:nvSpPr>
        <p:spPr>
          <a:xfrm>
            <a:off x="841248" y="4544568"/>
            <a:ext cx="4809744" cy="36576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Marriage</a:t>
            </a:r>
          </a:p>
        </p:txBody>
      </p:sp>
      <p:sp>
        <p:nvSpPr>
          <p:cNvPr id="16" name="TextBox 15"/>
          <p:cNvSpPr txBox="1"/>
          <p:nvPr/>
        </p:nvSpPr>
        <p:spPr>
          <a:xfrm>
            <a:off x="841248" y="4937760"/>
            <a:ext cx="4809744" cy="1051560"/>
          </a:xfrm>
          <a:prstGeom prst="rect">
            <a:avLst/>
          </a:prstGeom>
          <a:noFill/>
        </p:spPr>
        <p:txBody>
          <a:bodyPr wrap="square" lIns="0" rIns="0" tIns="0" bIns="0">
            <a:spAutoFit/>
          </a:bodyPr>
          <a:lstStyle/>
          <a:p>
            <a:pPr>
              <a:lnSpc>
                <a:spcPct val="108000"/>
              </a:lnSpc>
              <a:spcAft>
                <a:spcPts val="700"/>
              </a:spcAft>
            </a:pPr>
            <a:r>
              <a:rPr sz="1150">
                <a:solidFill>
                  <a:srgbClr val="1D1D1F"/>
                </a:solidFill>
                <a:latin typeface="Helvetica Neue"/>
              </a:rPr>
              <a:t>-  1 = married, 2 = single, 3 = other (official codes).</a:t>
            </a:r>
          </a:p>
          <a:p>
            <a:pPr>
              <a:lnSpc>
                <a:spcPct val="108000"/>
              </a:lnSpc>
              <a:spcAft>
                <a:spcPts val="700"/>
              </a:spcAft>
            </a:pPr>
            <a:r>
              <a:rPr sz="1150">
                <a:solidFill>
                  <a:srgbClr val="1D1D1F"/>
                </a:solidFill>
                <a:latin typeface="Helvetica Neue"/>
              </a:rPr>
              <a:t>-  Undocumented code 0 folded into "other" (3), 42 rows.</a:t>
            </a:r>
          </a:p>
          <a:p>
            <a:pPr>
              <a:lnSpc>
                <a:spcPct val="108000"/>
              </a:lnSpc>
              <a:spcAft>
                <a:spcPts val="700"/>
              </a:spcAft>
            </a:pPr>
            <a:r>
              <a:rPr sz="1150">
                <a:solidFill>
                  <a:srgbClr val="1D1D1F"/>
                </a:solidFill>
                <a:latin typeface="Helvetica Neue"/>
              </a:rPr>
              <a:t>-  No confirmed fairness or accuracy issue for this group.</a:t>
            </a:r>
          </a:p>
        </p:txBody>
      </p:sp>
      <p:sp>
        <p:nvSpPr>
          <p:cNvPr id="17" name="Rounded Rectangle 16"/>
          <p:cNvSpPr/>
          <p:nvPr/>
        </p:nvSpPr>
        <p:spPr>
          <a:xfrm>
            <a:off x="6126480" y="3977640"/>
            <a:ext cx="5212080" cy="21488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4105656"/>
            <a:ext cx="914400" cy="457200"/>
          </a:xfrm>
          <a:prstGeom prst="rect">
            <a:avLst/>
          </a:prstGeom>
          <a:noFill/>
        </p:spPr>
        <p:txBody>
          <a:bodyPr wrap="square" anchor="t" lIns="0" rIns="0" tIns="0" bIns="0">
            <a:spAutoFit/>
          </a:bodyPr>
          <a:lstStyle/>
          <a:p>
            <a:pPr algn="l">
              <a:lnSpc>
                <a:spcPct val="100000"/>
              </a:lnSpc>
            </a:pPr>
            <a:r>
              <a:rPr sz="3000" b="1" i="0">
                <a:solidFill>
                  <a:srgbClr val="D2D2D7"/>
                </a:solidFill>
                <a:latin typeface="Helvetica Neue"/>
              </a:rPr>
              <a:t>04</a:t>
            </a:r>
          </a:p>
        </p:txBody>
      </p:sp>
      <p:sp>
        <p:nvSpPr>
          <p:cNvPr id="19" name="TextBox 18"/>
          <p:cNvSpPr txBox="1"/>
          <p:nvPr/>
        </p:nvSpPr>
        <p:spPr>
          <a:xfrm>
            <a:off x="6327648" y="4544568"/>
            <a:ext cx="4809744" cy="36576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What We Didn't Clean</a:t>
            </a:r>
          </a:p>
        </p:txBody>
      </p:sp>
      <p:sp>
        <p:nvSpPr>
          <p:cNvPr id="20" name="TextBox 19"/>
          <p:cNvSpPr txBox="1"/>
          <p:nvPr/>
        </p:nvSpPr>
        <p:spPr>
          <a:xfrm>
            <a:off x="6327648" y="4937760"/>
            <a:ext cx="4809744" cy="1051560"/>
          </a:xfrm>
          <a:prstGeom prst="rect">
            <a:avLst/>
          </a:prstGeom>
          <a:noFill/>
        </p:spPr>
        <p:txBody>
          <a:bodyPr wrap="square" lIns="0" rIns="0" tIns="0" bIns="0">
            <a:spAutoFit/>
          </a:bodyPr>
          <a:lstStyle/>
          <a:p>
            <a:pPr>
              <a:lnSpc>
                <a:spcPct val="108000"/>
              </a:lnSpc>
              <a:spcAft>
                <a:spcPts val="700"/>
              </a:spcAft>
            </a:pPr>
            <a:r>
              <a:rPr sz="1150">
                <a:solidFill>
                  <a:srgbClr val="1D1D1F"/>
                </a:solidFill>
                <a:latin typeface="Helvetica Neue"/>
              </a:rPr>
              <a:t>-  Zero missing values, no malformed rows, confirmed directly across all 24,000 rows.</a:t>
            </a:r>
          </a:p>
          <a:p>
            <a:pPr>
              <a:lnSpc>
                <a:spcPct val="108000"/>
              </a:lnSpc>
              <a:spcAft>
                <a:spcPts val="700"/>
              </a:spcAft>
            </a:pPr>
            <a:r>
              <a:rPr sz="1150">
                <a:solidFill>
                  <a:srgbClr val="1D1D1F"/>
                </a:solidFill>
                <a:latin typeface="Helvetica Neue"/>
              </a:rPr>
              <a:t>-  No outlier removal: large balances and payments can be genuine risk signal.</a:t>
            </a:r>
          </a:p>
          <a:p>
            <a:pPr>
              <a:lnSpc>
                <a:spcPct val="108000"/>
              </a:lnSpc>
              <a:spcAft>
                <a:spcPts val="700"/>
              </a:spcAft>
            </a:pPr>
            <a:r>
              <a:rPr sz="1150">
                <a:solidFill>
                  <a:srgbClr val="1D1D1F"/>
                </a:solidFill>
                <a:latin typeface="Helvetica Neue"/>
              </a:rPr>
              <a:t>-  No resampling or class weighting: preserves the true 22.12% base rate for calibration.</a:t>
            </a:r>
          </a:p>
          <a:p>
            <a:pPr>
              <a:lnSpc>
                <a:spcPct val="108000"/>
              </a:lnSpc>
              <a:spcAft>
                <a:spcPts val="700"/>
              </a:spcAft>
            </a:pPr>
            <a:r>
              <a:rPr sz="1150">
                <a:solidFill>
                  <a:srgbClr val="1D1D1F"/>
                </a:solidFill>
                <a:latin typeface="Helvetica Neue"/>
              </a:rPr>
              <a:t>-  client_id dropped as a non-informative identifier.</a:t>
            </a:r>
          </a:p>
        </p:txBody>
      </p:sp>
      <p:sp>
        <p:nvSpPr>
          <p:cNvPr id="21" name="TextBox 20"/>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THE LARGEST SINGLE GAIN</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Feature Engineering</a:t>
            </a:r>
          </a:p>
        </p:txBody>
      </p:sp>
      <p:sp>
        <p:nvSpPr>
          <p:cNvPr id="5" name="TextBox 4"/>
          <p:cNvSpPr txBox="1"/>
          <p:nvPr/>
        </p:nvSpPr>
        <p:spPr>
          <a:xfrm>
            <a:off x="640080" y="1691640"/>
            <a:ext cx="10881360" cy="502920"/>
          </a:xfrm>
          <a:prstGeom prst="rect">
            <a:avLst/>
          </a:prstGeom>
          <a:noFill/>
        </p:spPr>
        <p:txBody>
          <a:bodyPr wrap="square" anchor="t" lIns="0" rIns="0" tIns="0" bIns="0">
            <a:spAutoFit/>
          </a:bodyPr>
          <a:lstStyle/>
          <a:p>
            <a:pPr algn="l">
              <a:lnSpc>
                <a:spcPct val="100000"/>
              </a:lnSpc>
            </a:pPr>
            <a:r>
              <a:rPr sz="1700" b="0" i="0">
                <a:solidFill>
                  <a:srgbClr val="6E6E73"/>
                </a:solidFill>
                <a:latin typeface="Helvetica Neue"/>
              </a:rPr>
              <a:t>Statement balances and payments are given, monthly account activity is not.</a:t>
            </a:r>
          </a:p>
        </p:txBody>
      </p:sp>
      <p:pic>
        <p:nvPicPr>
          <p:cNvPr id="6" name="Picture 5" descr="spend_proxy.png"/>
          <p:cNvPicPr>
            <a:picLocks noChangeAspect="1"/>
          </p:cNvPicPr>
          <p:nvPr/>
        </p:nvPicPr>
        <p:blipFill>
          <a:blip r:embed="rId2"/>
          <a:stretch>
            <a:fillRect/>
          </a:stretch>
        </p:blipFill>
        <p:spPr>
          <a:xfrm>
            <a:off x="2978620" y="2286000"/>
            <a:ext cx="6204278" cy="1737360"/>
          </a:xfrm>
          <a:prstGeom prst="rect">
            <a:avLst/>
          </a:prstGeom>
        </p:spPr>
      </p:pic>
      <p:sp>
        <p:nvSpPr>
          <p:cNvPr id="7" name="TextBox 6"/>
          <p:cNvSpPr txBox="1"/>
          <p:nvPr/>
        </p:nvSpPr>
        <p:spPr>
          <a:xfrm>
            <a:off x="640080" y="4160520"/>
            <a:ext cx="5669280" cy="822960"/>
          </a:xfrm>
          <a:prstGeom prst="rect">
            <a:avLst/>
          </a:prstGeom>
          <a:noFill/>
        </p:spPr>
        <p:txBody>
          <a:bodyPr wrap="square" anchor="t" lIns="0" rIns="0" tIns="0" bIns="0">
            <a:spAutoFit/>
          </a:bodyPr>
          <a:lstStyle/>
          <a:p>
            <a:pPr algn="l">
              <a:lnSpc>
                <a:spcPct val="100000"/>
              </a:lnSpc>
            </a:pPr>
            <a:r>
              <a:rPr sz="1550" b="0" i="0">
                <a:solidFill>
                  <a:srgbClr val="1D1D1F"/>
                </a:solidFill>
                <a:latin typeface="Helvetica Neue"/>
              </a:rPr>
              <a:t>A rising balance from new spending is a different risk story than one from missed payments, this proxy tells them apart.</a:t>
            </a:r>
          </a:p>
        </p:txBody>
      </p:sp>
      <p:pic>
        <p:nvPicPr>
          <p:cNvPr id="8" name="Picture 7" descr="feature_family_gains.png"/>
          <p:cNvPicPr>
            <a:picLocks noChangeAspect="1"/>
          </p:cNvPicPr>
          <p:nvPr/>
        </p:nvPicPr>
        <p:blipFill>
          <a:blip r:embed="rId3"/>
          <a:stretch>
            <a:fillRect/>
          </a:stretch>
        </p:blipFill>
        <p:spPr>
          <a:xfrm>
            <a:off x="6420113" y="3977639"/>
            <a:ext cx="4990573" cy="2514600"/>
          </a:xfrm>
          <a:prstGeom prst="rect">
            <a:avLst/>
          </a:prstGeom>
        </p:spPr>
      </p:pic>
      <p:sp>
        <p:nvSpPr>
          <p:cNvPr id="9" name="TextBox 8"/>
          <p:cNvSpPr txBox="1"/>
          <p:nvPr/>
        </p:nvSpPr>
        <p:spPr>
          <a:xfrm>
            <a:off x="640080" y="5166360"/>
            <a:ext cx="5669280" cy="1005840"/>
          </a:xfrm>
          <a:prstGeom prst="rect">
            <a:avLst/>
          </a:prstGeom>
          <a:noFill/>
        </p:spPr>
        <p:txBody>
          <a:bodyPr wrap="square" anchor="t" lIns="0" rIns="0" tIns="0" bIns="0">
            <a:spAutoFit/>
          </a:bodyPr>
          <a:lstStyle/>
          <a:p>
            <a:pPr algn="l">
              <a:lnSpc>
                <a:spcPct val="120000"/>
              </a:lnSpc>
            </a:pPr>
            <a:r>
              <a:rPr sz="1550" b="1" i="0">
                <a:solidFill>
                  <a:srgbClr val="0057B8"/>
                </a:solidFill>
                <a:latin typeface="Helvetica Neue"/>
              </a:rPr>
              <a:t>+0.00046 OOF log loss  ·  +0.00173 hidden-test log loss.</a:t>
            </a:r>
          </a:p>
          <a:p>
            <a:pPr algn="l">
              <a:lnSpc>
                <a:spcPct val="120000"/>
              </a:lnSpc>
            </a:pPr>
            <a:r>
              <a:rPr sz="1550" b="1" i="0">
                <a:solidFill>
                  <a:srgbClr val="0057B8"/>
                </a:solidFill>
                <a:latin typeface="Helvetica Neue"/>
              </a:rPr>
              <a:t>Six other feature families never cleared the 0.0005 noise threshold.</a:t>
            </a:r>
          </a:p>
        </p:txBody>
      </p:sp>
      <p:sp>
        <p:nvSpPr>
          <p:cNvPr id="10" name="TextBox 9"/>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41 EXPERIMENTS</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Experimentation</a:t>
            </a:r>
          </a:p>
        </p:txBody>
      </p:sp>
      <p:pic>
        <p:nvPicPr>
          <p:cNvPr id="5" name="Picture 4" descr="experiment_progression.png"/>
          <p:cNvPicPr>
            <a:picLocks noChangeAspect="1"/>
          </p:cNvPicPr>
          <p:nvPr/>
        </p:nvPicPr>
        <p:blipFill>
          <a:blip r:embed="rId2"/>
          <a:stretch>
            <a:fillRect/>
          </a:stretch>
        </p:blipFill>
        <p:spPr>
          <a:xfrm>
            <a:off x="6309360" y="2696607"/>
            <a:ext cx="5212080" cy="2287745"/>
          </a:xfrm>
          <a:prstGeom prst="rect">
            <a:avLst/>
          </a:prstGeom>
        </p:spPr>
      </p:pic>
      <p:sp>
        <p:nvSpPr>
          <p:cNvPr id="6" name="TextBox 5"/>
          <p:cNvSpPr txBox="1"/>
          <p:nvPr/>
        </p:nvSpPr>
        <p:spPr>
          <a:xfrm>
            <a:off x="640080" y="1691640"/>
            <a:ext cx="5577840" cy="2103120"/>
          </a:xfrm>
          <a:prstGeom prst="rect">
            <a:avLst/>
          </a:prstGeom>
          <a:noFill/>
        </p:spPr>
        <p:txBody>
          <a:bodyPr wrap="square" lIns="0" rIns="0" tIns="0" bIns="0">
            <a:spAutoFit/>
          </a:bodyPr>
          <a:lstStyle/>
          <a:p>
            <a:pPr>
              <a:lnSpc>
                <a:spcPct val="108000"/>
              </a:lnSpc>
              <a:spcAft>
                <a:spcPts val="800"/>
              </a:spcAft>
            </a:pPr>
            <a:r>
              <a:rPr sz="1550">
                <a:solidFill>
                  <a:srgbClr val="1D1D1F"/>
                </a:solidFill>
                <a:latin typeface="Helvetica Neue"/>
              </a:rPr>
              <a:t>-  10 model families · 7 candidate feature families · 135 LightGBM configurations.</a:t>
            </a:r>
          </a:p>
          <a:p>
            <a:pPr>
              <a:lnSpc>
                <a:spcPct val="108000"/>
              </a:lnSpc>
              <a:spcAft>
                <a:spcPts val="800"/>
              </a:spcAft>
            </a:pPr>
            <a:r>
              <a:rPr sz="1550">
                <a:solidFill>
                  <a:srgbClr val="1D1D1F"/>
                </a:solidFill>
                <a:latin typeface="Helvetica Neue"/>
              </a:rPr>
              <a:t>-  Switched selection from AUC to log loss.</a:t>
            </a:r>
          </a:p>
          <a:p>
            <a:pPr>
              <a:lnSpc>
                <a:spcPct val="108000"/>
              </a:lnSpc>
              <a:spcAft>
                <a:spcPts val="800"/>
              </a:spcAft>
            </a:pPr>
            <a:r>
              <a:rPr sz="1550">
                <a:solidFill>
                  <a:srgbClr val="1D1D1F"/>
                </a:solidFill>
                <a:latin typeface="Helvetica Neue"/>
              </a:rPr>
              <a:t>-  Added the GRU to preserve month-to-month order.</a:t>
            </a:r>
          </a:p>
          <a:p>
            <a:pPr>
              <a:lnSpc>
                <a:spcPct val="108000"/>
              </a:lnSpc>
              <a:spcAft>
                <a:spcPts val="800"/>
              </a:spcAft>
            </a:pPr>
            <a:r>
              <a:rPr sz="1550">
                <a:solidFill>
                  <a:srgbClr val="1D1D1F"/>
                </a:solidFill>
                <a:latin typeface="Helvetica Neue"/>
              </a:rPr>
              <a:t>-  Introduced spending decomposition, the largest gain.</a:t>
            </a:r>
          </a:p>
          <a:p>
            <a:pPr>
              <a:lnSpc>
                <a:spcPct val="108000"/>
              </a:lnSpc>
              <a:spcAft>
                <a:spcPts val="800"/>
              </a:spcAft>
            </a:pPr>
            <a:r>
              <a:rPr sz="1550">
                <a:solidFill>
                  <a:srgbClr val="1D1D1F"/>
                </a:solidFill>
                <a:latin typeface="Helvetica Neue"/>
              </a:rPr>
              <a:t>-  Added TabPFN as the final complementary model.</a:t>
            </a:r>
          </a:p>
        </p:txBody>
      </p:sp>
      <p:sp>
        <p:nvSpPr>
          <p:cNvPr id="7" name="TextBox 6"/>
          <p:cNvSpPr txBox="1"/>
          <p:nvPr/>
        </p:nvSpPr>
        <p:spPr>
          <a:xfrm>
            <a:off x="640080" y="3977639"/>
            <a:ext cx="5577840" cy="365760"/>
          </a:xfrm>
          <a:prstGeom prst="rect">
            <a:avLst/>
          </a:prstGeom>
          <a:noFill/>
        </p:spPr>
        <p:txBody>
          <a:bodyPr wrap="square" anchor="t" lIns="0" rIns="0" tIns="0" bIns="0">
            <a:spAutoFit/>
          </a:bodyPr>
          <a:lstStyle/>
          <a:p>
            <a:pPr algn="l">
              <a:lnSpc>
                <a:spcPct val="100000"/>
              </a:lnSpc>
            </a:pPr>
            <a:r>
              <a:rPr sz="1500" b="1" i="0">
                <a:solidFill>
                  <a:srgbClr val="0057B8"/>
                </a:solidFill>
                <a:latin typeface="Helvetica Neue"/>
              </a:rPr>
              <a:t>Notable failures</a:t>
            </a:r>
          </a:p>
        </p:txBody>
      </p:sp>
      <p:sp>
        <p:nvSpPr>
          <p:cNvPr id="8" name="TextBox 7"/>
          <p:cNvSpPr txBox="1"/>
          <p:nvPr/>
        </p:nvSpPr>
        <p:spPr>
          <a:xfrm>
            <a:off x="640080" y="4343400"/>
            <a:ext cx="5577840" cy="1828800"/>
          </a:xfrm>
          <a:prstGeom prst="rect">
            <a:avLst/>
          </a:prstGeom>
          <a:noFill/>
        </p:spPr>
        <p:txBody>
          <a:bodyPr wrap="square" lIns="0" rIns="0" tIns="0" bIns="0">
            <a:spAutoFit/>
          </a:bodyPr>
          <a:lstStyle/>
          <a:p>
            <a:pPr>
              <a:lnSpc>
                <a:spcPct val="108000"/>
              </a:lnSpc>
              <a:spcAft>
                <a:spcPts val="600"/>
              </a:spcAft>
            </a:pPr>
            <a:r>
              <a:rPr sz="1400">
                <a:solidFill>
                  <a:srgbClr val="1D1D1F"/>
                </a:solidFill>
                <a:latin typeface="Helvetica Neue"/>
              </a:rPr>
              <a:t>-  135 LightGBM configs: no reliable gain.</a:t>
            </a:r>
          </a:p>
          <a:p>
            <a:pPr>
              <a:lnSpc>
                <a:spcPct val="108000"/>
              </a:lnSpc>
              <a:spcAft>
                <a:spcPts val="600"/>
              </a:spcAft>
            </a:pPr>
            <a:r>
              <a:rPr sz="1400">
                <a:solidFill>
                  <a:srgbClr val="1D1D1F"/>
                </a:solidFill>
                <a:latin typeface="Helvetica Neue"/>
              </a:rPr>
              <a:t>-  1D-CNN duplicated the GRU signal (0.9924 correlated).</a:t>
            </a:r>
          </a:p>
          <a:p>
            <a:pPr>
              <a:lnSpc>
                <a:spcPct val="108000"/>
              </a:lnSpc>
              <a:spcAft>
                <a:spcPts val="600"/>
              </a:spcAft>
            </a:pPr>
            <a:r>
              <a:rPr sz="1400">
                <a:solidFill>
                  <a:srgbClr val="1D1D1F"/>
                </a:solidFill>
                <a:latin typeface="Helvetica Neue"/>
              </a:rPr>
              <a:t>-  Survival model improved OOF but worsened hidden test, removed.</a:t>
            </a:r>
          </a:p>
          <a:p>
            <a:pPr>
              <a:lnSpc>
                <a:spcPct val="108000"/>
              </a:lnSpc>
              <a:spcAft>
                <a:spcPts val="600"/>
              </a:spcAft>
            </a:pPr>
            <a:r>
              <a:rPr sz="1400">
                <a:solidFill>
                  <a:srgbClr val="1D1D1F"/>
                </a:solidFill>
                <a:latin typeface="Helvetica Neue"/>
              </a:rPr>
              <a:t>-  Isotonic calibration looked best on OOF, worst under nested CV.</a:t>
            </a:r>
          </a:p>
        </p:txBody>
      </p:sp>
      <p:sp>
        <p:nvSpPr>
          <p:cNvPr id="9" name="TextBox 8"/>
          <p:cNvSpPr txBox="1"/>
          <p:nvPr/>
        </p:nvSpPr>
        <p:spPr>
          <a:xfrm>
            <a:off x="640080" y="6172200"/>
            <a:ext cx="10881360" cy="457200"/>
          </a:xfrm>
          <a:prstGeom prst="rect">
            <a:avLst/>
          </a:prstGeom>
          <a:noFill/>
        </p:spPr>
        <p:txBody>
          <a:bodyPr wrap="square" anchor="t" lIns="0" rIns="0" tIns="0" bIns="0">
            <a:spAutoFit/>
          </a:bodyPr>
          <a:lstStyle/>
          <a:p>
            <a:pPr algn="l">
              <a:lnSpc>
                <a:spcPct val="100000"/>
              </a:lnSpc>
            </a:pPr>
            <a:r>
              <a:rPr sz="1500" b="0" i="1">
                <a:solidFill>
                  <a:srgbClr val="6E6E73"/>
                </a:solidFill>
                <a:latin typeface="Helvetica Neue"/>
              </a:rPr>
              <a:t>Disagreement between models only helps when it contains useful signal.</a:t>
            </a:r>
          </a:p>
        </p:txBody>
      </p:sp>
      <p:sp>
        <p:nvSpPr>
          <p:cNvPr id="10" name="TextBox 9"/>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MODEL SELECTION AND VALIDATION</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The Models</a:t>
            </a:r>
          </a:p>
        </p:txBody>
      </p:sp>
      <p:sp>
        <p:nvSpPr>
          <p:cNvPr id="5" name="Rounded Rectangle 4"/>
          <p:cNvSpPr/>
          <p:nvPr/>
        </p:nvSpPr>
        <p:spPr>
          <a:xfrm>
            <a:off x="640080" y="1691640"/>
            <a:ext cx="3456432" cy="48920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56232"/>
            <a:ext cx="3054096" cy="365760"/>
          </a:xfrm>
          <a:prstGeom prst="rect">
            <a:avLst/>
          </a:prstGeom>
          <a:noFill/>
        </p:spPr>
        <p:txBody>
          <a:bodyPr wrap="square" anchor="t" lIns="0" rIns="0" tIns="0" bIns="0">
            <a:spAutoFit/>
          </a:bodyPr>
          <a:lstStyle/>
          <a:p>
            <a:pPr algn="l">
              <a:lnSpc>
                <a:spcPct val="100000"/>
              </a:lnSpc>
            </a:pPr>
            <a:r>
              <a:rPr sz="2000" b="1" i="0">
                <a:solidFill>
                  <a:srgbClr val="1D1D1F"/>
                </a:solidFill>
                <a:latin typeface="Helvetica Neue"/>
              </a:rPr>
              <a:t>LightGBM</a:t>
            </a:r>
          </a:p>
        </p:txBody>
      </p:sp>
      <p:sp>
        <p:nvSpPr>
          <p:cNvPr id="7" name="TextBox 6"/>
          <p:cNvSpPr txBox="1"/>
          <p:nvPr/>
        </p:nvSpPr>
        <p:spPr>
          <a:xfrm>
            <a:off x="841248" y="2258568"/>
            <a:ext cx="146304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WEIGHT</a:t>
            </a:r>
          </a:p>
        </p:txBody>
      </p:sp>
      <p:sp>
        <p:nvSpPr>
          <p:cNvPr id="8" name="TextBox 7"/>
          <p:cNvSpPr txBox="1"/>
          <p:nvPr/>
        </p:nvSpPr>
        <p:spPr>
          <a:xfrm>
            <a:off x="841248" y="2441448"/>
            <a:ext cx="1463040" cy="320040"/>
          </a:xfrm>
          <a:prstGeom prst="rect">
            <a:avLst/>
          </a:prstGeom>
          <a:noFill/>
        </p:spPr>
        <p:txBody>
          <a:bodyPr wrap="square" anchor="t" lIns="0" rIns="0" tIns="0" bIns="0">
            <a:spAutoFit/>
          </a:bodyPr>
          <a:lstStyle/>
          <a:p>
            <a:pPr algn="l">
              <a:lnSpc>
                <a:spcPct val="100000"/>
              </a:lnSpc>
            </a:pPr>
            <a:r>
              <a:rPr sz="1700" b="1" i="0">
                <a:solidFill>
                  <a:srgbClr val="0057B8"/>
                </a:solidFill>
                <a:latin typeface="Helvetica Neue"/>
              </a:rPr>
              <a:t>45%</a:t>
            </a:r>
          </a:p>
        </p:txBody>
      </p:sp>
      <p:sp>
        <p:nvSpPr>
          <p:cNvPr id="9" name="TextBox 8"/>
          <p:cNvSpPr txBox="1"/>
          <p:nvPr/>
        </p:nvSpPr>
        <p:spPr>
          <a:xfrm>
            <a:off x="2578608" y="2258568"/>
            <a:ext cx="146304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OOF LOG LOSS</a:t>
            </a:r>
          </a:p>
        </p:txBody>
      </p:sp>
      <p:sp>
        <p:nvSpPr>
          <p:cNvPr id="10" name="TextBox 9"/>
          <p:cNvSpPr txBox="1"/>
          <p:nvPr/>
        </p:nvSpPr>
        <p:spPr>
          <a:xfrm>
            <a:off x="2578608" y="2441448"/>
            <a:ext cx="1463040" cy="32004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0.42211</a:t>
            </a:r>
          </a:p>
        </p:txBody>
      </p:sp>
      <p:cxnSp>
        <p:nvCxnSpPr>
          <p:cNvPr id="11" name="Connector 10"/>
          <p:cNvCxnSpPr/>
          <p:nvPr/>
        </p:nvCxnSpPr>
        <p:spPr>
          <a:xfrm>
            <a:off x="841248" y="2834640"/>
            <a:ext cx="3054096"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41248" y="2953512"/>
            <a:ext cx="228600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HYPERPARAMETERS</a:t>
            </a:r>
          </a:p>
        </p:txBody>
      </p:sp>
      <p:sp>
        <p:nvSpPr>
          <p:cNvPr id="13" name="TextBox 12"/>
          <p:cNvSpPr txBox="1"/>
          <p:nvPr/>
        </p:nvSpPr>
        <p:spPr>
          <a:xfrm>
            <a:off x="841248" y="3200400"/>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learning_rate</a:t>
            </a:r>
          </a:p>
        </p:txBody>
      </p:sp>
      <p:sp>
        <p:nvSpPr>
          <p:cNvPr id="14" name="TextBox 13"/>
          <p:cNvSpPr txBox="1"/>
          <p:nvPr/>
        </p:nvSpPr>
        <p:spPr>
          <a:xfrm>
            <a:off x="2368296" y="3200400"/>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0.03</a:t>
            </a:r>
          </a:p>
        </p:txBody>
      </p:sp>
      <p:sp>
        <p:nvSpPr>
          <p:cNvPr id="15" name="TextBox 14"/>
          <p:cNvSpPr txBox="1"/>
          <p:nvPr/>
        </p:nvSpPr>
        <p:spPr>
          <a:xfrm>
            <a:off x="841248" y="3447288"/>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num_leaves</a:t>
            </a:r>
          </a:p>
        </p:txBody>
      </p:sp>
      <p:sp>
        <p:nvSpPr>
          <p:cNvPr id="16" name="TextBox 15"/>
          <p:cNvSpPr txBox="1"/>
          <p:nvPr/>
        </p:nvSpPr>
        <p:spPr>
          <a:xfrm>
            <a:off x="2368296" y="3447288"/>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12</a:t>
            </a:r>
          </a:p>
        </p:txBody>
      </p:sp>
      <p:sp>
        <p:nvSpPr>
          <p:cNvPr id="17" name="TextBox 16"/>
          <p:cNvSpPr txBox="1"/>
          <p:nvPr/>
        </p:nvSpPr>
        <p:spPr>
          <a:xfrm>
            <a:off x="841248" y="3694176"/>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max_depth</a:t>
            </a:r>
          </a:p>
        </p:txBody>
      </p:sp>
      <p:sp>
        <p:nvSpPr>
          <p:cNvPr id="18" name="TextBox 17"/>
          <p:cNvSpPr txBox="1"/>
          <p:nvPr/>
        </p:nvSpPr>
        <p:spPr>
          <a:xfrm>
            <a:off x="2368296" y="3694176"/>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4</a:t>
            </a:r>
          </a:p>
        </p:txBody>
      </p:sp>
      <p:sp>
        <p:nvSpPr>
          <p:cNvPr id="19" name="TextBox 18"/>
          <p:cNvSpPr txBox="1"/>
          <p:nvPr/>
        </p:nvSpPr>
        <p:spPr>
          <a:xfrm>
            <a:off x="841248" y="3941064"/>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min_child_samples</a:t>
            </a:r>
          </a:p>
        </p:txBody>
      </p:sp>
      <p:sp>
        <p:nvSpPr>
          <p:cNvPr id="20" name="TextBox 19"/>
          <p:cNvSpPr txBox="1"/>
          <p:nvPr/>
        </p:nvSpPr>
        <p:spPr>
          <a:xfrm>
            <a:off x="2368296" y="3941064"/>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100</a:t>
            </a:r>
          </a:p>
        </p:txBody>
      </p:sp>
      <p:sp>
        <p:nvSpPr>
          <p:cNvPr id="21" name="TextBox 20"/>
          <p:cNvSpPr txBox="1"/>
          <p:nvPr/>
        </p:nvSpPr>
        <p:spPr>
          <a:xfrm>
            <a:off x="841248" y="4187952"/>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reg_lambda</a:t>
            </a:r>
          </a:p>
        </p:txBody>
      </p:sp>
      <p:sp>
        <p:nvSpPr>
          <p:cNvPr id="22" name="TextBox 21"/>
          <p:cNvSpPr txBox="1"/>
          <p:nvPr/>
        </p:nvSpPr>
        <p:spPr>
          <a:xfrm>
            <a:off x="2368296" y="4187952"/>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30.0</a:t>
            </a:r>
          </a:p>
        </p:txBody>
      </p:sp>
      <p:sp>
        <p:nvSpPr>
          <p:cNvPr id="23" name="TextBox 22"/>
          <p:cNvSpPr txBox="1"/>
          <p:nvPr/>
        </p:nvSpPr>
        <p:spPr>
          <a:xfrm>
            <a:off x="841248" y="4434840"/>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fits</a:t>
            </a:r>
          </a:p>
        </p:txBody>
      </p:sp>
      <p:sp>
        <p:nvSpPr>
          <p:cNvPr id="24" name="TextBox 23"/>
          <p:cNvSpPr txBox="1"/>
          <p:nvPr/>
        </p:nvSpPr>
        <p:spPr>
          <a:xfrm>
            <a:off x="2368296" y="4434840"/>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90 + 3-seed refit</a:t>
            </a:r>
          </a:p>
        </p:txBody>
      </p:sp>
      <p:cxnSp>
        <p:nvCxnSpPr>
          <p:cNvPr id="25" name="Connector 24"/>
          <p:cNvCxnSpPr/>
          <p:nvPr/>
        </p:nvCxnSpPr>
        <p:spPr>
          <a:xfrm>
            <a:off x="841248" y="4754880"/>
            <a:ext cx="3054096"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41248" y="4873752"/>
            <a:ext cx="228600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HOW IT PREDICTS</a:t>
            </a:r>
          </a:p>
        </p:txBody>
      </p:sp>
      <p:sp>
        <p:nvSpPr>
          <p:cNvPr id="27" name="TextBox 26"/>
          <p:cNvSpPr txBox="1"/>
          <p:nvPr/>
        </p:nvSpPr>
        <p:spPr>
          <a:xfrm>
            <a:off x="841248" y="5111496"/>
            <a:ext cx="3054096" cy="1417320"/>
          </a:xfrm>
          <a:prstGeom prst="rect">
            <a:avLst/>
          </a:prstGeom>
          <a:noFill/>
        </p:spPr>
        <p:txBody>
          <a:bodyPr wrap="square" anchor="t" lIns="0" rIns="0" tIns="0" bIns="0">
            <a:spAutoFit/>
          </a:bodyPr>
          <a:lstStyle/>
          <a:p>
            <a:pPr algn="l">
              <a:lnSpc>
                <a:spcPct val="118000"/>
              </a:lnSpc>
            </a:pPr>
            <a:r>
              <a:rPr sz="1250" b="0" i="0">
                <a:solidFill>
                  <a:srgbClr val="1D1D1F"/>
                </a:solidFill>
                <a:latin typeface="Helvetica Neue"/>
              </a:rPr>
              <a:t>Gradient-boosted decision trees. Hundreds of shallow trees, each correcting errors left by the ones before it, reading the 81 engineered features as one aggregate customer profile.</a:t>
            </a:r>
          </a:p>
        </p:txBody>
      </p:sp>
      <p:sp>
        <p:nvSpPr>
          <p:cNvPr id="28" name="Rounded Rectangle 27"/>
          <p:cNvSpPr/>
          <p:nvPr/>
        </p:nvSpPr>
        <p:spPr>
          <a:xfrm>
            <a:off x="4261104" y="1691640"/>
            <a:ext cx="3456432" cy="48920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1856232"/>
            <a:ext cx="3054096" cy="365760"/>
          </a:xfrm>
          <a:prstGeom prst="rect">
            <a:avLst/>
          </a:prstGeom>
          <a:noFill/>
        </p:spPr>
        <p:txBody>
          <a:bodyPr wrap="square" anchor="t" lIns="0" rIns="0" tIns="0" bIns="0">
            <a:spAutoFit/>
          </a:bodyPr>
          <a:lstStyle/>
          <a:p>
            <a:pPr algn="l">
              <a:lnSpc>
                <a:spcPct val="100000"/>
              </a:lnSpc>
            </a:pPr>
            <a:r>
              <a:rPr sz="2000" b="1" i="0">
                <a:solidFill>
                  <a:srgbClr val="1D1D1F"/>
                </a:solidFill>
                <a:latin typeface="Helvetica Neue"/>
              </a:rPr>
              <a:t>GRU</a:t>
            </a:r>
          </a:p>
        </p:txBody>
      </p:sp>
      <p:sp>
        <p:nvSpPr>
          <p:cNvPr id="30" name="TextBox 29"/>
          <p:cNvSpPr txBox="1"/>
          <p:nvPr/>
        </p:nvSpPr>
        <p:spPr>
          <a:xfrm>
            <a:off x="4462272" y="2258568"/>
            <a:ext cx="146304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WEIGHT</a:t>
            </a:r>
          </a:p>
        </p:txBody>
      </p:sp>
      <p:sp>
        <p:nvSpPr>
          <p:cNvPr id="31" name="TextBox 30"/>
          <p:cNvSpPr txBox="1"/>
          <p:nvPr/>
        </p:nvSpPr>
        <p:spPr>
          <a:xfrm>
            <a:off x="4462272" y="2441448"/>
            <a:ext cx="1463040" cy="320040"/>
          </a:xfrm>
          <a:prstGeom prst="rect">
            <a:avLst/>
          </a:prstGeom>
          <a:noFill/>
        </p:spPr>
        <p:txBody>
          <a:bodyPr wrap="square" anchor="t" lIns="0" rIns="0" tIns="0" bIns="0">
            <a:spAutoFit/>
          </a:bodyPr>
          <a:lstStyle/>
          <a:p>
            <a:pPr algn="l">
              <a:lnSpc>
                <a:spcPct val="100000"/>
              </a:lnSpc>
            </a:pPr>
            <a:r>
              <a:rPr sz="1700" b="1" i="0">
                <a:solidFill>
                  <a:srgbClr val="0057B8"/>
                </a:solidFill>
                <a:latin typeface="Helvetica Neue"/>
              </a:rPr>
              <a:t>30%</a:t>
            </a:r>
          </a:p>
        </p:txBody>
      </p:sp>
      <p:sp>
        <p:nvSpPr>
          <p:cNvPr id="32" name="TextBox 31"/>
          <p:cNvSpPr txBox="1"/>
          <p:nvPr/>
        </p:nvSpPr>
        <p:spPr>
          <a:xfrm>
            <a:off x="6199632" y="2258568"/>
            <a:ext cx="146304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OOF LOG LOSS</a:t>
            </a:r>
          </a:p>
        </p:txBody>
      </p:sp>
      <p:sp>
        <p:nvSpPr>
          <p:cNvPr id="33" name="TextBox 32"/>
          <p:cNvSpPr txBox="1"/>
          <p:nvPr/>
        </p:nvSpPr>
        <p:spPr>
          <a:xfrm>
            <a:off x="6199632" y="2441448"/>
            <a:ext cx="1463040" cy="32004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0.42392</a:t>
            </a:r>
          </a:p>
        </p:txBody>
      </p:sp>
      <p:cxnSp>
        <p:nvCxnSpPr>
          <p:cNvPr id="34" name="Connector 33"/>
          <p:cNvCxnSpPr/>
          <p:nvPr/>
        </p:nvCxnSpPr>
        <p:spPr>
          <a:xfrm>
            <a:off x="4462272" y="2834640"/>
            <a:ext cx="3054096"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462272" y="2953512"/>
            <a:ext cx="228600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HYPERPARAMETERS</a:t>
            </a:r>
          </a:p>
        </p:txBody>
      </p:sp>
      <p:sp>
        <p:nvSpPr>
          <p:cNvPr id="36" name="TextBox 35"/>
          <p:cNvSpPr txBox="1"/>
          <p:nvPr/>
        </p:nvSpPr>
        <p:spPr>
          <a:xfrm>
            <a:off x="4462272" y="3200400"/>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architecture</a:t>
            </a:r>
          </a:p>
        </p:txBody>
      </p:sp>
      <p:sp>
        <p:nvSpPr>
          <p:cNvPr id="37" name="TextBox 36"/>
          <p:cNvSpPr txBox="1"/>
          <p:nvPr/>
        </p:nvSpPr>
        <p:spPr>
          <a:xfrm>
            <a:off x="5989320" y="3200400"/>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2-layer bi-GRU</a:t>
            </a:r>
          </a:p>
        </p:txBody>
      </p:sp>
      <p:sp>
        <p:nvSpPr>
          <p:cNvPr id="38" name="TextBox 37"/>
          <p:cNvSpPr txBox="1"/>
          <p:nvPr/>
        </p:nvSpPr>
        <p:spPr>
          <a:xfrm>
            <a:off x="4462272" y="3447288"/>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hidden size</a:t>
            </a:r>
          </a:p>
        </p:txBody>
      </p:sp>
      <p:sp>
        <p:nvSpPr>
          <p:cNvPr id="39" name="TextBox 38"/>
          <p:cNvSpPr txBox="1"/>
          <p:nvPr/>
        </p:nvSpPr>
        <p:spPr>
          <a:xfrm>
            <a:off x="5989320" y="3447288"/>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32</a:t>
            </a:r>
          </a:p>
        </p:txBody>
      </p:sp>
      <p:sp>
        <p:nvSpPr>
          <p:cNvPr id="40" name="TextBox 39"/>
          <p:cNvSpPr txBox="1"/>
          <p:nvPr/>
        </p:nvSpPr>
        <p:spPr>
          <a:xfrm>
            <a:off x="4462272" y="3694176"/>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dropout</a:t>
            </a:r>
          </a:p>
        </p:txBody>
      </p:sp>
      <p:sp>
        <p:nvSpPr>
          <p:cNvPr id="41" name="TextBox 40"/>
          <p:cNvSpPr txBox="1"/>
          <p:nvPr/>
        </p:nvSpPr>
        <p:spPr>
          <a:xfrm>
            <a:off x="5989320" y="3694176"/>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0.4</a:t>
            </a:r>
          </a:p>
        </p:txBody>
      </p:sp>
      <p:sp>
        <p:nvSpPr>
          <p:cNvPr id="42" name="TextBox 41"/>
          <p:cNvSpPr txBox="1"/>
          <p:nvPr/>
        </p:nvSpPr>
        <p:spPr>
          <a:xfrm>
            <a:off x="4462272" y="3941064"/>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optimiser</a:t>
            </a:r>
          </a:p>
        </p:txBody>
      </p:sp>
      <p:sp>
        <p:nvSpPr>
          <p:cNvPr id="43" name="TextBox 42"/>
          <p:cNvSpPr txBox="1"/>
          <p:nvPr/>
        </p:nvSpPr>
        <p:spPr>
          <a:xfrm>
            <a:off x="5989320" y="3941064"/>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Adam, lr 2e-3</a:t>
            </a:r>
          </a:p>
        </p:txBody>
      </p:sp>
      <p:sp>
        <p:nvSpPr>
          <p:cNvPr id="44" name="TextBox 43"/>
          <p:cNvSpPr txBox="1"/>
          <p:nvPr/>
        </p:nvSpPr>
        <p:spPr>
          <a:xfrm>
            <a:off x="4462272" y="4187952"/>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batch size</a:t>
            </a:r>
          </a:p>
        </p:txBody>
      </p:sp>
      <p:sp>
        <p:nvSpPr>
          <p:cNvPr id="45" name="TextBox 44"/>
          <p:cNvSpPr txBox="1"/>
          <p:nvPr/>
        </p:nvSpPr>
        <p:spPr>
          <a:xfrm>
            <a:off x="5989320" y="4187952"/>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512</a:t>
            </a:r>
          </a:p>
        </p:txBody>
      </p:sp>
      <p:sp>
        <p:nvSpPr>
          <p:cNvPr id="46" name="TextBox 45"/>
          <p:cNvSpPr txBox="1"/>
          <p:nvPr/>
        </p:nvSpPr>
        <p:spPr>
          <a:xfrm>
            <a:off x="4462272" y="4434840"/>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fits</a:t>
            </a:r>
          </a:p>
        </p:txBody>
      </p:sp>
      <p:sp>
        <p:nvSpPr>
          <p:cNvPr id="47" name="TextBox 46"/>
          <p:cNvSpPr txBox="1"/>
          <p:nvPr/>
        </p:nvSpPr>
        <p:spPr>
          <a:xfrm>
            <a:off x="5989320" y="4434840"/>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150 + 5-seed refit</a:t>
            </a:r>
          </a:p>
        </p:txBody>
      </p:sp>
      <p:cxnSp>
        <p:nvCxnSpPr>
          <p:cNvPr id="48" name="Connector 47"/>
          <p:cNvCxnSpPr/>
          <p:nvPr/>
        </p:nvCxnSpPr>
        <p:spPr>
          <a:xfrm>
            <a:off x="4462272" y="4754880"/>
            <a:ext cx="3054096"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62272" y="4873752"/>
            <a:ext cx="228600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HOW IT PREDICTS</a:t>
            </a:r>
          </a:p>
        </p:txBody>
      </p:sp>
      <p:sp>
        <p:nvSpPr>
          <p:cNvPr id="50" name="TextBox 49"/>
          <p:cNvSpPr txBox="1"/>
          <p:nvPr/>
        </p:nvSpPr>
        <p:spPr>
          <a:xfrm>
            <a:off x="4462272" y="5111496"/>
            <a:ext cx="3054096" cy="1417320"/>
          </a:xfrm>
          <a:prstGeom prst="rect">
            <a:avLst/>
          </a:prstGeom>
          <a:noFill/>
        </p:spPr>
        <p:txBody>
          <a:bodyPr wrap="square" anchor="t" lIns="0" rIns="0" tIns="0" bIns="0">
            <a:spAutoFit/>
          </a:bodyPr>
          <a:lstStyle/>
          <a:p>
            <a:pPr algn="l">
              <a:lnSpc>
                <a:spcPct val="118000"/>
              </a:lnSpc>
            </a:pPr>
            <a:r>
              <a:rPr sz="1250" b="0" i="0">
                <a:solidFill>
                  <a:srgbClr val="1D1D1F"/>
                </a:solidFill>
                <a:latin typeface="Helvetica Neue"/>
              </a:rPr>
              <a:t>Bidirectional recurrent network. Reads the six months in order, updating an internal memory at each step, so it can tell a recovering customer apart from a deteriorating one.</a:t>
            </a:r>
          </a:p>
        </p:txBody>
      </p:sp>
      <p:sp>
        <p:nvSpPr>
          <p:cNvPr id="51" name="Rounded Rectangle 50"/>
          <p:cNvSpPr/>
          <p:nvPr/>
        </p:nvSpPr>
        <p:spPr>
          <a:xfrm>
            <a:off x="7882128" y="1691640"/>
            <a:ext cx="3456432" cy="4892040"/>
          </a:xfrm>
          <a:prstGeom prst="roundRect">
            <a:avLst>
              <a:gd name="adj" fmla="val 4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83296" y="1856232"/>
            <a:ext cx="3054096" cy="365760"/>
          </a:xfrm>
          <a:prstGeom prst="rect">
            <a:avLst/>
          </a:prstGeom>
          <a:noFill/>
        </p:spPr>
        <p:txBody>
          <a:bodyPr wrap="square" anchor="t" lIns="0" rIns="0" tIns="0" bIns="0">
            <a:spAutoFit/>
          </a:bodyPr>
          <a:lstStyle/>
          <a:p>
            <a:pPr algn="l">
              <a:lnSpc>
                <a:spcPct val="100000"/>
              </a:lnSpc>
            </a:pPr>
            <a:r>
              <a:rPr sz="2000" b="1" i="0">
                <a:solidFill>
                  <a:srgbClr val="1D1D1F"/>
                </a:solidFill>
                <a:latin typeface="Helvetica Neue"/>
              </a:rPr>
              <a:t>TabPFN</a:t>
            </a:r>
          </a:p>
        </p:txBody>
      </p:sp>
      <p:sp>
        <p:nvSpPr>
          <p:cNvPr id="53" name="TextBox 52"/>
          <p:cNvSpPr txBox="1"/>
          <p:nvPr/>
        </p:nvSpPr>
        <p:spPr>
          <a:xfrm>
            <a:off x="8083296" y="2258568"/>
            <a:ext cx="146304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WEIGHT</a:t>
            </a:r>
          </a:p>
        </p:txBody>
      </p:sp>
      <p:sp>
        <p:nvSpPr>
          <p:cNvPr id="54" name="TextBox 53"/>
          <p:cNvSpPr txBox="1"/>
          <p:nvPr/>
        </p:nvSpPr>
        <p:spPr>
          <a:xfrm>
            <a:off x="8083296" y="2441448"/>
            <a:ext cx="1463040" cy="320040"/>
          </a:xfrm>
          <a:prstGeom prst="rect">
            <a:avLst/>
          </a:prstGeom>
          <a:noFill/>
        </p:spPr>
        <p:txBody>
          <a:bodyPr wrap="square" anchor="t" lIns="0" rIns="0" tIns="0" bIns="0">
            <a:spAutoFit/>
          </a:bodyPr>
          <a:lstStyle/>
          <a:p>
            <a:pPr algn="l">
              <a:lnSpc>
                <a:spcPct val="100000"/>
              </a:lnSpc>
            </a:pPr>
            <a:r>
              <a:rPr sz="1700" b="1" i="0">
                <a:solidFill>
                  <a:srgbClr val="0057B8"/>
                </a:solidFill>
                <a:latin typeface="Helvetica Neue"/>
              </a:rPr>
              <a:t>25%</a:t>
            </a:r>
          </a:p>
        </p:txBody>
      </p:sp>
      <p:sp>
        <p:nvSpPr>
          <p:cNvPr id="55" name="TextBox 54"/>
          <p:cNvSpPr txBox="1"/>
          <p:nvPr/>
        </p:nvSpPr>
        <p:spPr>
          <a:xfrm>
            <a:off x="9820656" y="2258568"/>
            <a:ext cx="146304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OOF LOG LOSS</a:t>
            </a:r>
          </a:p>
        </p:txBody>
      </p:sp>
      <p:sp>
        <p:nvSpPr>
          <p:cNvPr id="56" name="TextBox 55"/>
          <p:cNvSpPr txBox="1"/>
          <p:nvPr/>
        </p:nvSpPr>
        <p:spPr>
          <a:xfrm>
            <a:off x="9820656" y="2441448"/>
            <a:ext cx="1463040" cy="32004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0.42345</a:t>
            </a:r>
          </a:p>
        </p:txBody>
      </p:sp>
      <p:cxnSp>
        <p:nvCxnSpPr>
          <p:cNvPr id="57" name="Connector 56"/>
          <p:cNvCxnSpPr/>
          <p:nvPr/>
        </p:nvCxnSpPr>
        <p:spPr>
          <a:xfrm>
            <a:off x="8083296" y="2834640"/>
            <a:ext cx="3054096"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083296" y="2953512"/>
            <a:ext cx="228600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HYPERPARAMETERS</a:t>
            </a:r>
          </a:p>
        </p:txBody>
      </p:sp>
      <p:sp>
        <p:nvSpPr>
          <p:cNvPr id="59" name="TextBox 58"/>
          <p:cNvSpPr txBox="1"/>
          <p:nvPr/>
        </p:nvSpPr>
        <p:spPr>
          <a:xfrm>
            <a:off x="8083296" y="3200400"/>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pretrained</a:t>
            </a:r>
          </a:p>
        </p:txBody>
      </p:sp>
      <p:sp>
        <p:nvSpPr>
          <p:cNvPr id="60" name="TextBox 59"/>
          <p:cNvSpPr txBox="1"/>
          <p:nvPr/>
        </p:nvSpPr>
        <p:spPr>
          <a:xfrm>
            <a:off x="9610344" y="3200400"/>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0 params fit</a:t>
            </a:r>
          </a:p>
        </p:txBody>
      </p:sp>
      <p:sp>
        <p:nvSpPr>
          <p:cNvPr id="61" name="TextBox 60"/>
          <p:cNvSpPr txBox="1"/>
          <p:nvPr/>
        </p:nvSpPr>
        <p:spPr>
          <a:xfrm>
            <a:off x="8083296" y="3447288"/>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n_estimators</a:t>
            </a:r>
          </a:p>
        </p:txBody>
      </p:sp>
      <p:sp>
        <p:nvSpPr>
          <p:cNvPr id="62" name="TextBox 61"/>
          <p:cNvSpPr txBox="1"/>
          <p:nvPr/>
        </p:nvSpPr>
        <p:spPr>
          <a:xfrm>
            <a:off x="9610344" y="3447288"/>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4</a:t>
            </a:r>
          </a:p>
        </p:txBody>
      </p:sp>
      <p:sp>
        <p:nvSpPr>
          <p:cNvPr id="63" name="TextBox 62"/>
          <p:cNvSpPr txBox="1"/>
          <p:nvPr/>
        </p:nvSpPr>
        <p:spPr>
          <a:xfrm>
            <a:off x="8083296" y="3694176"/>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balance_probabilities</a:t>
            </a:r>
          </a:p>
        </p:txBody>
      </p:sp>
      <p:sp>
        <p:nvSpPr>
          <p:cNvPr id="64" name="TextBox 63"/>
          <p:cNvSpPr txBox="1"/>
          <p:nvPr/>
        </p:nvSpPr>
        <p:spPr>
          <a:xfrm>
            <a:off x="9610344" y="3694176"/>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False</a:t>
            </a:r>
          </a:p>
        </p:txBody>
      </p:sp>
      <p:sp>
        <p:nvSpPr>
          <p:cNvPr id="65" name="TextBox 64"/>
          <p:cNvSpPr txBox="1"/>
          <p:nvPr/>
        </p:nvSpPr>
        <p:spPr>
          <a:xfrm>
            <a:off x="8083296" y="3941064"/>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device</a:t>
            </a:r>
          </a:p>
        </p:txBody>
      </p:sp>
      <p:sp>
        <p:nvSpPr>
          <p:cNvPr id="66" name="TextBox 65"/>
          <p:cNvSpPr txBox="1"/>
          <p:nvPr/>
        </p:nvSpPr>
        <p:spPr>
          <a:xfrm>
            <a:off x="9610344" y="3941064"/>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cpu</a:t>
            </a:r>
          </a:p>
        </p:txBody>
      </p:sp>
      <p:sp>
        <p:nvSpPr>
          <p:cNvPr id="67" name="TextBox 66"/>
          <p:cNvSpPr txBox="1"/>
          <p:nvPr/>
        </p:nvSpPr>
        <p:spPr>
          <a:xfrm>
            <a:off x="8083296" y="4187952"/>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context size</a:t>
            </a:r>
          </a:p>
        </p:txBody>
      </p:sp>
      <p:sp>
        <p:nvSpPr>
          <p:cNvPr id="68" name="TextBox 67"/>
          <p:cNvSpPr txBox="1"/>
          <p:nvPr/>
        </p:nvSpPr>
        <p:spPr>
          <a:xfrm>
            <a:off x="9610344" y="4187952"/>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19,200 / fold</a:t>
            </a:r>
          </a:p>
        </p:txBody>
      </p:sp>
      <p:sp>
        <p:nvSpPr>
          <p:cNvPr id="69" name="TextBox 68"/>
          <p:cNvSpPr txBox="1"/>
          <p:nvPr/>
        </p:nvSpPr>
        <p:spPr>
          <a:xfrm>
            <a:off x="8083296" y="4434840"/>
            <a:ext cx="1679752" cy="219456"/>
          </a:xfrm>
          <a:prstGeom prst="rect">
            <a:avLst/>
          </a:prstGeom>
          <a:noFill/>
        </p:spPr>
        <p:txBody>
          <a:bodyPr wrap="square" anchor="t" lIns="0" rIns="0" tIns="0" bIns="0">
            <a:spAutoFit/>
          </a:bodyPr>
          <a:lstStyle/>
          <a:p>
            <a:pPr algn="l">
              <a:lnSpc>
                <a:spcPct val="100000"/>
              </a:lnSpc>
            </a:pPr>
            <a:r>
              <a:rPr sz="1200" b="0" i="0">
                <a:solidFill>
                  <a:srgbClr val="1D1D1F"/>
                </a:solidFill>
                <a:latin typeface="Helvetica Neue"/>
              </a:rPr>
              <a:t>fits</a:t>
            </a:r>
          </a:p>
        </p:txBody>
      </p:sp>
      <p:sp>
        <p:nvSpPr>
          <p:cNvPr id="70" name="TextBox 69"/>
          <p:cNvSpPr txBox="1"/>
          <p:nvPr/>
        </p:nvSpPr>
        <p:spPr>
          <a:xfrm>
            <a:off x="9610344" y="4434840"/>
            <a:ext cx="1325880" cy="219456"/>
          </a:xfrm>
          <a:prstGeom prst="rect">
            <a:avLst/>
          </a:prstGeom>
          <a:noFill/>
        </p:spPr>
        <p:txBody>
          <a:bodyPr wrap="square" anchor="t" lIns="0" rIns="0" tIns="0" bIns="0">
            <a:spAutoFit/>
          </a:bodyPr>
          <a:lstStyle/>
          <a:p>
            <a:pPr algn="r">
              <a:lnSpc>
                <a:spcPct val="100000"/>
              </a:lnSpc>
            </a:pPr>
            <a:r>
              <a:rPr sz="1200" b="0" i="0">
                <a:solidFill>
                  <a:srgbClr val="6E6E73"/>
                </a:solidFill>
                <a:latin typeface="Helvetica Neue"/>
              </a:rPr>
              <a:t>30 + 3-seed refit</a:t>
            </a:r>
          </a:p>
        </p:txBody>
      </p:sp>
      <p:cxnSp>
        <p:nvCxnSpPr>
          <p:cNvPr id="71" name="Connector 70"/>
          <p:cNvCxnSpPr/>
          <p:nvPr/>
        </p:nvCxnSpPr>
        <p:spPr>
          <a:xfrm>
            <a:off x="8083296" y="4754880"/>
            <a:ext cx="3054096"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083296" y="4873752"/>
            <a:ext cx="2286000" cy="182880"/>
          </a:xfrm>
          <a:prstGeom prst="rect">
            <a:avLst/>
          </a:prstGeom>
          <a:noFill/>
        </p:spPr>
        <p:txBody>
          <a:bodyPr wrap="square" anchor="t" lIns="0" rIns="0" tIns="0" bIns="0">
            <a:spAutoFit/>
          </a:bodyPr>
          <a:lstStyle/>
          <a:p>
            <a:pPr algn="l">
              <a:lnSpc>
                <a:spcPct val="100000"/>
              </a:lnSpc>
            </a:pPr>
            <a:r>
              <a:rPr sz="950" b="1" i="0">
                <a:solidFill>
                  <a:srgbClr val="6E6E73"/>
                </a:solidFill>
                <a:latin typeface="Helvetica Neue"/>
              </a:rPr>
              <a:t>HOW IT PREDICTS</a:t>
            </a:r>
          </a:p>
        </p:txBody>
      </p:sp>
      <p:sp>
        <p:nvSpPr>
          <p:cNvPr id="73" name="TextBox 72"/>
          <p:cNvSpPr txBox="1"/>
          <p:nvPr/>
        </p:nvSpPr>
        <p:spPr>
          <a:xfrm>
            <a:off x="8083296" y="5111496"/>
            <a:ext cx="3054096" cy="1417320"/>
          </a:xfrm>
          <a:prstGeom prst="rect">
            <a:avLst/>
          </a:prstGeom>
          <a:noFill/>
        </p:spPr>
        <p:txBody>
          <a:bodyPr wrap="square" anchor="t" lIns="0" rIns="0" tIns="0" bIns="0">
            <a:spAutoFit/>
          </a:bodyPr>
          <a:lstStyle/>
          <a:p>
            <a:pPr algn="l">
              <a:lnSpc>
                <a:spcPct val="118000"/>
              </a:lnSpc>
            </a:pPr>
            <a:r>
              <a:rPr sz="1250" b="0" i="0">
                <a:solidFill>
                  <a:srgbClr val="1D1D1F"/>
                </a:solidFill>
                <a:latin typeface="Helvetica Neue"/>
              </a:rPr>
              <a:t>Pretrained transformer. Applies a prior learned from millions of synthetic datasets; the training rows act as live context at prediction time, with no parameters fit to this data.</a:t>
            </a:r>
          </a:p>
        </p:txBody>
      </p:sp>
      <p:sp>
        <p:nvSpPr>
          <p:cNvPr id="74" name="TextBox 73"/>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MODEL SELECTION AND VALIDATION</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Validation &amp; Results</a:t>
            </a:r>
          </a:p>
        </p:txBody>
      </p:sp>
      <p:sp>
        <p:nvSpPr>
          <p:cNvPr id="5" name="TextBox 4"/>
          <p:cNvSpPr txBox="1"/>
          <p:nvPr/>
        </p:nvSpPr>
        <p:spPr>
          <a:xfrm>
            <a:off x="640080" y="1828800"/>
            <a:ext cx="6035040" cy="36576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Validation strategy</a:t>
            </a:r>
          </a:p>
        </p:txBody>
      </p:sp>
      <p:sp>
        <p:nvSpPr>
          <p:cNvPr id="6" name="TextBox 5"/>
          <p:cNvSpPr txBox="1"/>
          <p:nvPr/>
        </p:nvSpPr>
        <p:spPr>
          <a:xfrm>
            <a:off x="640080" y="2286000"/>
            <a:ext cx="6035040" cy="1188720"/>
          </a:xfrm>
          <a:prstGeom prst="rect">
            <a:avLst/>
          </a:prstGeom>
          <a:noFill/>
        </p:spPr>
        <p:txBody>
          <a:bodyPr wrap="square" anchor="t" lIns="0" rIns="0" tIns="0" bIns="0">
            <a:spAutoFit/>
          </a:bodyPr>
          <a:lstStyle/>
          <a:p>
            <a:pPr algn="l">
              <a:lnSpc>
                <a:spcPct val="120000"/>
              </a:lnSpc>
            </a:pPr>
            <a:r>
              <a:rPr sz="1500" b="0" i="0">
                <a:solidFill>
                  <a:srgbClr val="1D1D1F"/>
                </a:solidFill>
                <a:latin typeface="Helvetica Neue"/>
              </a:rPr>
              <a:t>Stratified 5-fold CV across 6 partitions, identical folds for every model. Differences below 0.0005 OOF log loss are noise; nested CV for anything fitted.</a:t>
            </a:r>
          </a:p>
        </p:txBody>
      </p:sp>
      <p:sp>
        <p:nvSpPr>
          <p:cNvPr id="7" name="TextBox 6"/>
          <p:cNvSpPr txBox="1"/>
          <p:nvPr/>
        </p:nvSpPr>
        <p:spPr>
          <a:xfrm>
            <a:off x="640080" y="3749039"/>
            <a:ext cx="6035040" cy="365760"/>
          </a:xfrm>
          <a:prstGeom prst="rect">
            <a:avLst/>
          </a:prstGeom>
          <a:noFill/>
        </p:spPr>
        <p:txBody>
          <a:bodyPr wrap="square" anchor="t" lIns="0" rIns="0" tIns="0" bIns="0">
            <a:spAutoFit/>
          </a:bodyPr>
          <a:lstStyle/>
          <a:p>
            <a:pPr algn="l">
              <a:lnSpc>
                <a:spcPct val="100000"/>
              </a:lnSpc>
            </a:pPr>
            <a:r>
              <a:rPr sz="1700" b="1" i="0">
                <a:solidFill>
                  <a:srgbClr val="1D1D1F"/>
                </a:solidFill>
                <a:latin typeface="Helvetica Neue"/>
              </a:rPr>
              <a:t>Post-processing</a:t>
            </a:r>
          </a:p>
        </p:txBody>
      </p:sp>
      <p:sp>
        <p:nvSpPr>
          <p:cNvPr id="8" name="TextBox 7"/>
          <p:cNvSpPr txBox="1"/>
          <p:nvPr/>
        </p:nvSpPr>
        <p:spPr>
          <a:xfrm>
            <a:off x="640080" y="4206240"/>
            <a:ext cx="6035040" cy="914400"/>
          </a:xfrm>
          <a:prstGeom prst="rect">
            <a:avLst/>
          </a:prstGeom>
          <a:noFill/>
        </p:spPr>
        <p:txBody>
          <a:bodyPr wrap="square" anchor="t" lIns="0" rIns="0" tIns="0" bIns="0">
            <a:spAutoFit/>
          </a:bodyPr>
          <a:lstStyle/>
          <a:p>
            <a:pPr algn="l">
              <a:lnSpc>
                <a:spcPct val="120000"/>
              </a:lnSpc>
            </a:pPr>
            <a:r>
              <a:rPr sz="1500" b="0" i="0">
                <a:solidFill>
                  <a:srgbClr val="1D1D1F"/>
                </a:solidFill>
                <a:latin typeface="Helvetica Neue"/>
              </a:rPr>
              <a:t>Plain weighted average of the three probabilities, 0.45 / 0.30 / 0.25. No calibration. Clipped to [1e-4, 1-1e-4].</a:t>
            </a:r>
          </a:p>
        </p:txBody>
      </p:sp>
      <p:pic>
        <p:nvPicPr>
          <p:cNvPr id="9" name="Picture 8" descr="ensemble_diagram.png"/>
          <p:cNvPicPr>
            <a:picLocks noChangeAspect="1"/>
          </p:cNvPicPr>
          <p:nvPr/>
        </p:nvPicPr>
        <p:blipFill>
          <a:blip r:embed="rId2"/>
          <a:stretch>
            <a:fillRect/>
          </a:stretch>
        </p:blipFill>
        <p:spPr>
          <a:xfrm>
            <a:off x="7315200" y="1757230"/>
            <a:ext cx="4206240" cy="1514739"/>
          </a:xfrm>
          <a:prstGeom prst="rect">
            <a:avLst/>
          </a:prstGeom>
        </p:spPr>
      </p:pic>
      <p:sp>
        <p:nvSpPr>
          <p:cNvPr id="10" name="TextBox 9"/>
          <p:cNvSpPr txBox="1"/>
          <p:nvPr/>
        </p:nvSpPr>
        <p:spPr>
          <a:xfrm>
            <a:off x="7315200" y="3429000"/>
            <a:ext cx="2011680" cy="228600"/>
          </a:xfrm>
          <a:prstGeom prst="rect">
            <a:avLst/>
          </a:prstGeom>
          <a:noFill/>
        </p:spPr>
        <p:txBody>
          <a:bodyPr wrap="square" anchor="t" lIns="0" rIns="0" tIns="0" bIns="0">
            <a:spAutoFit/>
          </a:bodyPr>
          <a:lstStyle/>
          <a:p>
            <a:pPr algn="l">
              <a:lnSpc>
                <a:spcPct val="100000"/>
              </a:lnSpc>
            </a:pPr>
            <a:r>
              <a:rPr sz="1200" b="1" i="0">
                <a:solidFill>
                  <a:srgbClr val="6E6E73"/>
                </a:solidFill>
                <a:latin typeface="Helvetica Neue"/>
              </a:rPr>
              <a:t>OUT-OF-FOLD</a:t>
            </a:r>
          </a:p>
        </p:txBody>
      </p:sp>
      <p:sp>
        <p:nvSpPr>
          <p:cNvPr id="11" name="TextBox 10"/>
          <p:cNvSpPr txBox="1"/>
          <p:nvPr/>
        </p:nvSpPr>
        <p:spPr>
          <a:xfrm>
            <a:off x="7278624" y="3657600"/>
            <a:ext cx="2743200" cy="64008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0.42136</a:t>
            </a:r>
          </a:p>
        </p:txBody>
      </p:sp>
      <p:sp>
        <p:nvSpPr>
          <p:cNvPr id="12" name="TextBox 11"/>
          <p:cNvSpPr txBox="1"/>
          <p:nvPr/>
        </p:nvSpPr>
        <p:spPr>
          <a:xfrm>
            <a:off x="7315200" y="4343400"/>
            <a:ext cx="2011680" cy="228600"/>
          </a:xfrm>
          <a:prstGeom prst="rect">
            <a:avLst/>
          </a:prstGeom>
          <a:noFill/>
        </p:spPr>
        <p:txBody>
          <a:bodyPr wrap="square" anchor="t" lIns="0" rIns="0" tIns="0" bIns="0">
            <a:spAutoFit/>
          </a:bodyPr>
          <a:lstStyle/>
          <a:p>
            <a:pPr algn="l">
              <a:lnSpc>
                <a:spcPct val="100000"/>
              </a:lnSpc>
            </a:pPr>
            <a:r>
              <a:rPr sz="1200" b="1" i="0">
                <a:solidFill>
                  <a:srgbClr val="0057B8"/>
                </a:solidFill>
                <a:latin typeface="Helvetica Neue"/>
              </a:rPr>
              <a:t>HIDDEN TEST</a:t>
            </a:r>
          </a:p>
        </p:txBody>
      </p:sp>
      <p:sp>
        <p:nvSpPr>
          <p:cNvPr id="13" name="TextBox 12"/>
          <p:cNvSpPr txBox="1"/>
          <p:nvPr/>
        </p:nvSpPr>
        <p:spPr>
          <a:xfrm>
            <a:off x="7278624" y="4572000"/>
            <a:ext cx="2743200" cy="685800"/>
          </a:xfrm>
          <a:prstGeom prst="rect">
            <a:avLst/>
          </a:prstGeom>
          <a:noFill/>
        </p:spPr>
        <p:txBody>
          <a:bodyPr wrap="square" anchor="t" lIns="0" rIns="0" tIns="0" bIns="0">
            <a:spAutoFit/>
          </a:bodyPr>
          <a:lstStyle/>
          <a:p>
            <a:pPr algn="l">
              <a:lnSpc>
                <a:spcPct val="100000"/>
              </a:lnSpc>
            </a:pPr>
            <a:r>
              <a:rPr sz="4000" b="1" i="0">
                <a:solidFill>
                  <a:srgbClr val="0057B8"/>
                </a:solidFill>
                <a:latin typeface="Helvetica Neue"/>
              </a:rPr>
              <a:t>0.40982</a:t>
            </a:r>
          </a:p>
        </p:txBody>
      </p:sp>
      <p:sp>
        <p:nvSpPr>
          <p:cNvPr id="14" name="TextBox 13"/>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WHAT THE MODEL LEARNED, AND WHERE IT FAILS</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Model Insights &amp; Limitations</a:t>
            </a:r>
          </a:p>
        </p:txBody>
      </p:sp>
      <p:pic>
        <p:nvPicPr>
          <p:cNvPr id="5" name="Picture 4" descr="shap_summary_top6.png"/>
          <p:cNvPicPr>
            <a:picLocks noChangeAspect="1"/>
          </p:cNvPicPr>
          <p:nvPr/>
        </p:nvPicPr>
        <p:blipFill>
          <a:blip r:embed="rId2"/>
          <a:stretch>
            <a:fillRect/>
          </a:stretch>
        </p:blipFill>
        <p:spPr>
          <a:xfrm>
            <a:off x="1267968" y="1691640"/>
            <a:ext cx="4779264" cy="4480560"/>
          </a:xfrm>
          <a:prstGeom prst="rect">
            <a:avLst/>
          </a:prstGeom>
        </p:spPr>
      </p:pic>
      <p:sp>
        <p:nvSpPr>
          <p:cNvPr id="6" name="TextBox 5"/>
          <p:cNvSpPr txBox="1"/>
          <p:nvPr/>
        </p:nvSpPr>
        <p:spPr>
          <a:xfrm>
            <a:off x="640080" y="6217920"/>
            <a:ext cx="6035040" cy="320040"/>
          </a:xfrm>
          <a:prstGeom prst="rect">
            <a:avLst/>
          </a:prstGeom>
          <a:noFill/>
        </p:spPr>
        <p:txBody>
          <a:bodyPr wrap="square" anchor="t" lIns="0" rIns="0" tIns="0" bIns="0">
            <a:spAutoFit/>
          </a:bodyPr>
          <a:lstStyle/>
          <a:p>
            <a:pPr algn="l">
              <a:lnSpc>
                <a:spcPct val="100000"/>
              </a:lnSpc>
            </a:pPr>
            <a:r>
              <a:rPr sz="1250" b="0" i="1">
                <a:solidFill>
                  <a:srgbClr val="6E6E73"/>
                </a:solidFill>
                <a:latin typeface="Helvetica Neue"/>
              </a:rPr>
              <a:t>LightGBM component interpretation, 45% of ensemble</a:t>
            </a:r>
          </a:p>
        </p:txBody>
      </p:sp>
      <p:sp>
        <p:nvSpPr>
          <p:cNvPr id="7" name="TextBox 6"/>
          <p:cNvSpPr txBox="1"/>
          <p:nvPr/>
        </p:nvSpPr>
        <p:spPr>
          <a:xfrm>
            <a:off x="7178040" y="1691640"/>
            <a:ext cx="4343400" cy="365760"/>
          </a:xfrm>
          <a:prstGeom prst="rect">
            <a:avLst/>
          </a:prstGeom>
          <a:noFill/>
        </p:spPr>
        <p:txBody>
          <a:bodyPr wrap="square" anchor="t" lIns="0" rIns="0" tIns="0" bIns="0">
            <a:spAutoFit/>
          </a:bodyPr>
          <a:lstStyle/>
          <a:p>
            <a:pPr algn="l">
              <a:lnSpc>
                <a:spcPct val="100000"/>
              </a:lnSpc>
            </a:pPr>
            <a:r>
              <a:rPr sz="1500" b="1" i="0">
                <a:solidFill>
                  <a:srgbClr val="0057B8"/>
                </a:solidFill>
                <a:latin typeface="Helvetica Neue"/>
              </a:rPr>
              <a:t>Strongest indicators</a:t>
            </a:r>
          </a:p>
        </p:txBody>
      </p:sp>
      <p:sp>
        <p:nvSpPr>
          <p:cNvPr id="8" name="TextBox 7"/>
          <p:cNvSpPr txBox="1"/>
          <p:nvPr/>
        </p:nvSpPr>
        <p:spPr>
          <a:xfrm>
            <a:off x="7178040" y="2057400"/>
            <a:ext cx="4343400" cy="1371600"/>
          </a:xfrm>
          <a:prstGeom prst="rect">
            <a:avLst/>
          </a:prstGeom>
          <a:noFill/>
        </p:spPr>
        <p:txBody>
          <a:bodyPr wrap="square" lIns="0" rIns="0" tIns="0" bIns="0">
            <a:spAutoFit/>
          </a:bodyPr>
          <a:lstStyle/>
          <a:p>
            <a:pPr>
              <a:lnSpc>
                <a:spcPct val="108000"/>
              </a:lnSpc>
              <a:spcAft>
                <a:spcPts val="600"/>
              </a:spcAft>
            </a:pPr>
            <a:r>
              <a:rPr sz="1450">
                <a:solidFill>
                  <a:srgbClr val="1D1D1F"/>
                </a:solidFill>
                <a:latin typeface="Helvetica Neue"/>
              </a:rPr>
              <a:t>-  Recent, severe delinquency.</a:t>
            </a:r>
          </a:p>
          <a:p>
            <a:pPr>
              <a:lnSpc>
                <a:spcPct val="108000"/>
              </a:lnSpc>
              <a:spcAft>
                <a:spcPts val="600"/>
              </a:spcAft>
            </a:pPr>
            <a:r>
              <a:rPr sz="1450">
                <a:solidFill>
                  <a:srgbClr val="1D1D1F"/>
                </a:solidFill>
                <a:latin typeface="Helvetica Neue"/>
              </a:rPr>
              <a:t>-  Low available credit, low payment-to-bill coverage.</a:t>
            </a:r>
          </a:p>
          <a:p>
            <a:pPr>
              <a:lnSpc>
                <a:spcPct val="108000"/>
              </a:lnSpc>
              <a:spcAft>
                <a:spcPts val="600"/>
              </a:spcAft>
            </a:pPr>
            <a:r>
              <a:rPr sz="1450">
                <a:solidFill>
                  <a:srgbClr val="1D1D1F"/>
                </a:solidFill>
                <a:latin typeface="Helvetica Neue"/>
              </a:rPr>
              <a:t>-  High utilisation.</a:t>
            </a:r>
          </a:p>
        </p:txBody>
      </p:sp>
      <p:sp>
        <p:nvSpPr>
          <p:cNvPr id="9" name="TextBox 8"/>
          <p:cNvSpPr txBox="1"/>
          <p:nvPr/>
        </p:nvSpPr>
        <p:spPr>
          <a:xfrm>
            <a:off x="7178040" y="3429000"/>
            <a:ext cx="4343400" cy="822960"/>
          </a:xfrm>
          <a:prstGeom prst="rect">
            <a:avLst/>
          </a:prstGeom>
          <a:noFill/>
        </p:spPr>
        <p:txBody>
          <a:bodyPr wrap="square" anchor="t" lIns="0" rIns="0" tIns="0" bIns="0">
            <a:spAutoFit/>
          </a:bodyPr>
          <a:lstStyle/>
          <a:p>
            <a:pPr algn="l">
              <a:lnSpc>
                <a:spcPct val="100000"/>
              </a:lnSpc>
            </a:pPr>
            <a:r>
              <a:rPr sz="1400" b="0" i="0">
                <a:solidFill>
                  <a:srgbClr val="1D1D1F"/>
                </a:solidFill>
                <a:latin typeface="Helvetica Neue"/>
              </a:rPr>
              <a:t>20 largest errors → all unexpected defaults, scored 2-4% risk, with clean payment histories. The driver isn't in this data.</a:t>
            </a:r>
          </a:p>
        </p:txBody>
      </p:sp>
      <p:sp>
        <p:nvSpPr>
          <p:cNvPr id="10" name="Rounded Rectangle 9"/>
          <p:cNvSpPr/>
          <p:nvPr/>
        </p:nvSpPr>
        <p:spPr>
          <a:xfrm>
            <a:off x="7178040" y="4480560"/>
            <a:ext cx="4343400" cy="1600200"/>
          </a:xfrm>
          <a:prstGeom prst="roundRect">
            <a:avLst>
              <a:gd name="adj" fmla="val 5000"/>
            </a:avLst>
          </a:prstGeom>
          <a:solidFill>
            <a:srgbClr val="FFFFFF"/>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4617720"/>
            <a:ext cx="3931920" cy="365760"/>
          </a:xfrm>
          <a:prstGeom prst="rect">
            <a:avLst/>
          </a:prstGeom>
          <a:noFill/>
        </p:spPr>
        <p:txBody>
          <a:bodyPr wrap="square" anchor="t" lIns="0" rIns="0" tIns="0" bIns="0">
            <a:spAutoFit/>
          </a:bodyPr>
          <a:lstStyle/>
          <a:p>
            <a:pPr algn="l">
              <a:lnSpc>
                <a:spcPct val="100000"/>
              </a:lnSpc>
            </a:pPr>
            <a:r>
              <a:rPr sz="1450" b="1" i="0">
                <a:solidFill>
                  <a:srgbClr val="0057B8"/>
                </a:solidFill>
                <a:latin typeface="Helvetica Neue"/>
              </a:rPr>
              <a:t>EDUCATION = "other"</a:t>
            </a:r>
          </a:p>
        </p:txBody>
      </p:sp>
      <p:sp>
        <p:nvSpPr>
          <p:cNvPr id="12" name="TextBox 11"/>
          <p:cNvSpPr txBox="1"/>
          <p:nvPr/>
        </p:nvSpPr>
        <p:spPr>
          <a:xfrm>
            <a:off x="7406640" y="4983480"/>
            <a:ext cx="3931920" cy="1005840"/>
          </a:xfrm>
          <a:prstGeom prst="rect">
            <a:avLst/>
          </a:prstGeom>
          <a:noFill/>
        </p:spPr>
        <p:txBody>
          <a:bodyPr wrap="square" anchor="t" lIns="0" rIns="0" tIns="0" bIns="0">
            <a:spAutoFit/>
          </a:bodyPr>
          <a:lstStyle/>
          <a:p>
            <a:pPr algn="l">
              <a:lnSpc>
                <a:spcPct val="115000"/>
              </a:lnSpc>
            </a:pPr>
            <a:r>
              <a:rPr sz="1300" b="0" i="0">
                <a:solidFill>
                  <a:srgbClr val="1D1D1F"/>
                </a:solidFill>
                <a:latin typeface="Helvetica Neue"/>
              </a:rPr>
              <a:t>387 customers, 28 defaults, risk over-predicted ~61%. AUC 0.645 vs. ~0.79 elsewhere. Should not support automated adverse decisions.</a:t>
            </a:r>
          </a:p>
        </p:txBody>
      </p:sp>
      <p:sp>
        <p:nvSpPr>
          <p:cNvPr id="13" name="TextBox 12"/>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anchor="t" lIns="0" rIns="0" tIns="0" bIns="0">
            <a:spAutoFit/>
          </a:bodyPr>
          <a:lstStyle/>
          <a:p>
            <a:pPr algn="l">
              <a:lnSpc>
                <a:spcPct val="100000"/>
              </a:lnSpc>
            </a:pPr>
            <a:r>
              <a:rPr sz="1300" b="1" i="0">
                <a:solidFill>
                  <a:srgbClr val="0071E3"/>
                </a:solidFill>
                <a:latin typeface="Helvetica Neue"/>
              </a:rPr>
              <a:t>DECISION SUPPORT, NOT AUTOMATION</a:t>
            </a:r>
          </a:p>
        </p:txBody>
      </p:sp>
      <p:sp>
        <p:nvSpPr>
          <p:cNvPr id="4" name="TextBox 3"/>
          <p:cNvSpPr txBox="1"/>
          <p:nvPr/>
        </p:nvSpPr>
        <p:spPr>
          <a:xfrm>
            <a:off x="640080" y="822960"/>
            <a:ext cx="10881360" cy="914400"/>
          </a:xfrm>
          <a:prstGeom prst="rect">
            <a:avLst/>
          </a:prstGeom>
          <a:noFill/>
        </p:spPr>
        <p:txBody>
          <a:bodyPr wrap="square" anchor="t" lIns="0" rIns="0" tIns="0" bIns="0">
            <a:spAutoFit/>
          </a:bodyPr>
          <a:lstStyle/>
          <a:p>
            <a:pPr algn="l">
              <a:lnSpc>
                <a:spcPct val="100000"/>
              </a:lnSpc>
            </a:pPr>
            <a:r>
              <a:rPr sz="3400" b="1" i="0">
                <a:solidFill>
                  <a:srgbClr val="1D1D1F"/>
                </a:solidFill>
                <a:latin typeface="Helvetica Neue"/>
              </a:rPr>
              <a:t>Real-World Application</a:t>
            </a:r>
          </a:p>
        </p:txBody>
      </p:sp>
      <p:sp>
        <p:nvSpPr>
          <p:cNvPr id="5" name="TextBox 4"/>
          <p:cNvSpPr txBox="1"/>
          <p:nvPr/>
        </p:nvSpPr>
        <p:spPr>
          <a:xfrm>
            <a:off x="640080" y="1691640"/>
            <a:ext cx="10881360" cy="1371600"/>
          </a:xfrm>
          <a:prstGeom prst="rect">
            <a:avLst/>
          </a:prstGeom>
          <a:noFill/>
        </p:spPr>
        <p:txBody>
          <a:bodyPr wrap="square" lIns="0" rIns="0" tIns="0" bIns="0">
            <a:spAutoFit/>
          </a:bodyPr>
          <a:lstStyle/>
          <a:p>
            <a:pPr>
              <a:lnSpc>
                <a:spcPct val="108000"/>
              </a:lnSpc>
              <a:spcAft>
                <a:spcPts val="800"/>
              </a:spcAft>
            </a:pPr>
            <a:r>
              <a:rPr sz="1600">
                <a:solidFill>
                  <a:srgbClr val="1D1D1F"/>
                </a:solidFill>
                <a:latin typeface="Helvetica Neue"/>
              </a:rPr>
              <a:t>-  Calibrated probabilities support manual review, early customer assistance, limit monitoring and portfolio prioritisation, not an automatic approve/decline rule.</a:t>
            </a:r>
          </a:p>
          <a:p>
            <a:pPr>
              <a:lnSpc>
                <a:spcPct val="108000"/>
              </a:lnSpc>
              <a:spcAft>
                <a:spcPts val="800"/>
              </a:spcAft>
            </a:pPr>
            <a:r>
              <a:rPr sz="1600">
                <a:solidFill>
                  <a:srgbClr val="1D1D1F"/>
                </a:solidFill>
                <a:latin typeface="Helvetica Neue"/>
              </a:rPr>
              <a:t>-  Thresholds should reflect business cost, regulation and review capacity, not the competition score alone.</a:t>
            </a:r>
          </a:p>
        </p:txBody>
      </p:sp>
      <p:pic>
        <p:nvPicPr>
          <p:cNvPr id="6" name="Picture 5" descr="decision_continuum.png"/>
          <p:cNvPicPr>
            <a:picLocks noChangeAspect="1"/>
          </p:cNvPicPr>
          <p:nvPr/>
        </p:nvPicPr>
        <p:blipFill>
          <a:blip r:embed="rId2"/>
          <a:stretch>
            <a:fillRect/>
          </a:stretch>
        </p:blipFill>
        <p:spPr>
          <a:xfrm>
            <a:off x="3575271" y="2880360"/>
            <a:ext cx="5041152" cy="914400"/>
          </a:xfrm>
          <a:prstGeom prst="rect">
            <a:avLst/>
          </a:prstGeom>
        </p:spPr>
      </p:pic>
      <p:pic>
        <p:nvPicPr>
          <p:cNvPr id="7" name="Picture 6" descr="fp_fn_panel.png"/>
          <p:cNvPicPr>
            <a:picLocks noChangeAspect="1"/>
          </p:cNvPicPr>
          <p:nvPr/>
        </p:nvPicPr>
        <p:blipFill>
          <a:blip r:embed="rId3"/>
          <a:stretch>
            <a:fillRect/>
          </a:stretch>
        </p:blipFill>
        <p:spPr>
          <a:xfrm>
            <a:off x="3039428" y="3977639"/>
            <a:ext cx="6112838" cy="1554480"/>
          </a:xfrm>
          <a:prstGeom prst="rect">
            <a:avLst/>
          </a:prstGeom>
        </p:spPr>
      </p:pic>
      <p:sp>
        <p:nvSpPr>
          <p:cNvPr id="8" name="TextBox 7"/>
          <p:cNvSpPr txBox="1"/>
          <p:nvPr/>
        </p:nvSpPr>
        <p:spPr>
          <a:xfrm>
            <a:off x="640080" y="5715000"/>
            <a:ext cx="10881360" cy="365760"/>
          </a:xfrm>
          <a:prstGeom prst="rect">
            <a:avLst/>
          </a:prstGeom>
          <a:noFill/>
        </p:spPr>
        <p:txBody>
          <a:bodyPr wrap="square" anchor="t" lIns="0" rIns="0" tIns="0" bIns="0">
            <a:spAutoFit/>
          </a:bodyPr>
          <a:lstStyle/>
          <a:p>
            <a:pPr algn="l">
              <a:lnSpc>
                <a:spcPct val="100000"/>
              </a:lnSpc>
            </a:pPr>
            <a:r>
              <a:rPr sz="1350" b="0" i="0">
                <a:solidFill>
                  <a:srgbClr val="6E6E73"/>
                </a:solidFill>
                <a:latin typeface="Helvetica Neue"/>
              </a:rPr>
              <a:t>Limitations: missing drivers of unexpected defaults · weak education subgroup · ensemble compute cost · TabPFN licence dependency.</a:t>
            </a:r>
          </a:p>
        </p:txBody>
      </p:sp>
      <p:sp>
        <p:nvSpPr>
          <p:cNvPr id="9" name="TextBox 8"/>
          <p:cNvSpPr txBox="1"/>
          <p:nvPr/>
        </p:nvSpPr>
        <p:spPr>
          <a:xfrm>
            <a:off x="640080" y="6126480"/>
            <a:ext cx="10881360" cy="548640"/>
          </a:xfrm>
          <a:prstGeom prst="rect">
            <a:avLst/>
          </a:prstGeom>
          <a:noFill/>
        </p:spPr>
        <p:txBody>
          <a:bodyPr wrap="square" anchor="t" lIns="0" rIns="0" tIns="0" bIns="0">
            <a:spAutoFit/>
          </a:bodyPr>
          <a:lstStyle/>
          <a:p>
            <a:pPr algn="l">
              <a:lnSpc>
                <a:spcPct val="100000"/>
              </a:lnSpc>
            </a:pPr>
            <a:r>
              <a:rPr sz="1600" b="1" i="0">
                <a:solidFill>
                  <a:srgbClr val="0057B8"/>
                </a:solidFill>
                <a:latin typeface="Helvetica Neue"/>
              </a:rPr>
              <a:t>Understanding the account mechanics and validating decisions carefully mattered more than adding model complexity.</a:t>
            </a:r>
          </a:p>
        </p:txBody>
      </p:sp>
      <p:sp>
        <p:nvSpPr>
          <p:cNvPr id="10" name="TextBox 9"/>
          <p:cNvSpPr txBox="1"/>
          <p:nvPr/>
        </p:nvSpPr>
        <p:spPr>
          <a:xfrm>
            <a:off x="11277295" y="6355080"/>
            <a:ext cx="548640" cy="365760"/>
          </a:xfrm>
          <a:prstGeom prst="rect">
            <a:avLst/>
          </a:prstGeom>
          <a:noFill/>
        </p:spPr>
        <p:txBody>
          <a:bodyPr wrap="square" anchor="t" lIns="0" rIns="0" tIns="0" bIns="0">
            <a:spAutoFit/>
          </a:bodyPr>
          <a:lstStyle/>
          <a:p>
            <a:pPr algn="r">
              <a:lnSpc>
                <a:spcPct val="100000"/>
              </a:lnSpc>
            </a:pPr>
            <a:r>
              <a:rPr sz="1100" b="0" i="0">
                <a:solidFill>
                  <a:srgbClr val="6E6E73"/>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A1</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Model comparison and blend weights</a:t>
            </a:r>
          </a:p>
        </p:txBody>
      </p:sp>
      <p:sp>
        <p:nvSpPr>
          <p:cNvPr id="5" name="TextBox 4"/>
          <p:cNvSpPr txBox="1"/>
          <p:nvPr/>
        </p:nvSpPr>
        <p:spPr>
          <a:xfrm>
            <a:off x="640080" y="1645920"/>
            <a:ext cx="10911535" cy="4754880"/>
          </a:xfrm>
          <a:prstGeom prst="rect">
            <a:avLst/>
          </a:prstGeom>
          <a:noFill/>
        </p:spPr>
        <p:txBody>
          <a:bodyPr wrap="square" lIns="0" rIns="0" tIns="0" bIns="0">
            <a:spAutoFit/>
          </a:bodyPr>
          <a:lstStyle/>
          <a:p>
            <a:pPr>
              <a:lnSpc>
                <a:spcPct val="108000"/>
              </a:lnSpc>
              <a:spcAft>
                <a:spcPts val="1000"/>
              </a:spcAft>
            </a:pPr>
            <a:r>
              <a:rPr sz="1650">
                <a:solidFill>
                  <a:srgbClr val="1D1D1F"/>
                </a:solidFill>
                <a:latin typeface="Helvetica Neue"/>
              </a:rPr>
              <a:t>-  Ten model families tested; three earned blend weight (LightGBM 0.45, GRU 0.30, TabPFN 0.25).</a:t>
            </a:r>
          </a:p>
          <a:p>
            <a:pPr>
              <a:lnSpc>
                <a:spcPct val="108000"/>
              </a:lnSpc>
              <a:spcAft>
                <a:spcPts val="1000"/>
              </a:spcAft>
            </a:pPr>
            <a:r>
              <a:rPr sz="1650">
                <a:solidFill>
                  <a:srgbClr val="1D1D1F"/>
                </a:solidFill>
                <a:latin typeface="Helvetica Neue"/>
              </a:rPr>
              <a:t>-  Rejected at weight 0.00: survival/hazard (0.42260 OOF, worsened hidden test), sequence+spend channel (0.42426), 1D-CNN (0.42601, 0.9924 correlated with GRU), autoencoder (0.42685), MLP (0.42882), CatBoost, ExtraTrees, logistic regression, multi-task GRU.</a:t>
            </a:r>
          </a:p>
          <a:p>
            <a:pPr>
              <a:lnSpc>
                <a:spcPct val="108000"/>
              </a:lnSpc>
              <a:spcAft>
                <a:spcPts val="1000"/>
              </a:spcAft>
            </a:pPr>
            <a:r>
              <a:rPr sz="1650">
                <a:solidFill>
                  <a:srgbClr val="1D1D1F"/>
                </a:solidFill>
                <a:latin typeface="Helvetica Neue"/>
              </a:rPr>
              <a:t>-  135 LightGBM configurations across 3 sweeps (40 coarse, 60 fine, 1 blend-scored); best challenger beat the incumbent by only 0.00004, well below the noise floor.</a:t>
            </a:r>
          </a:p>
          <a:p>
            <a:pPr>
              <a:lnSpc>
                <a:spcPct val="108000"/>
              </a:lnSpc>
              <a:spcAft>
                <a:spcPts val="1000"/>
              </a:spcAft>
            </a:pPr>
            <a:r>
              <a:rPr sz="1650">
                <a:solidFill>
                  <a:srgbClr val="1D1D1F"/>
                </a:solidFill>
                <a:latin typeface="Helvetica Neue"/>
              </a:rPr>
              <a:t>-  Correlation is not the selection criterion: logistic regression was the most decorrelated model (0.948 vs. LightGBM) yet received weight 0.00. GRU earned 0.30 at a higher correlation of 0.983, what matters is whether disagreement carries signal.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A2</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Full experiment ledger (41 experiments)</a:t>
            </a:r>
          </a:p>
        </p:txBody>
      </p:sp>
      <p:sp>
        <p:nvSpPr>
          <p:cNvPr id="5" name="TextBox 4"/>
          <p:cNvSpPr txBox="1"/>
          <p:nvPr/>
        </p:nvSpPr>
        <p:spPr>
          <a:xfrm>
            <a:off x="640080" y="1645920"/>
            <a:ext cx="10911535" cy="4754880"/>
          </a:xfrm>
          <a:prstGeom prst="rect">
            <a:avLst/>
          </a:prstGeom>
          <a:noFill/>
        </p:spPr>
        <p:txBody>
          <a:bodyPr wrap="square" lIns="0" rIns="0" tIns="0" bIns="0">
            <a:spAutoFit/>
          </a:bodyPr>
          <a:lstStyle/>
          <a:p>
            <a:pPr>
              <a:lnSpc>
                <a:spcPct val="108000"/>
              </a:lnSpc>
              <a:spcAft>
                <a:spcPts val="1000"/>
              </a:spcAft>
            </a:pPr>
            <a:r>
              <a:rPr sz="1650">
                <a:solidFill>
                  <a:srgbClr val="1D1D1F"/>
                </a:solidFill>
                <a:latin typeface="Helvetica Neue"/>
              </a:rPr>
              <a:t>-  10 model families, 7 candidate feature families, 135 LightGBM configurations, 8 ensembling/calibration schemes, grouped as successful, neutral or harmful in docs/experiment-ledger.html.</a:t>
            </a:r>
          </a:p>
          <a:p>
            <a:pPr>
              <a:lnSpc>
                <a:spcPct val="108000"/>
              </a:lnSpc>
              <a:spcAft>
                <a:spcPts val="1000"/>
              </a:spcAft>
            </a:pPr>
            <a:r>
              <a:rPr sz="1650">
                <a:solidFill>
                  <a:srgbClr val="1D1D1F"/>
                </a:solidFill>
                <a:latin typeface="Helvetica Neue"/>
              </a:rPr>
              <a:t>-  Survival model: +0.00027 OOF but worse hidden test (0.41044 vs. 0.41038), removed.</a:t>
            </a:r>
          </a:p>
          <a:p>
            <a:pPr>
              <a:lnSpc>
                <a:spcPct val="108000"/>
              </a:lnSpc>
              <a:spcAft>
                <a:spcPts val="1000"/>
              </a:spcAft>
            </a:pPr>
            <a:r>
              <a:rPr sz="1650">
                <a:solidFill>
                  <a:srgbClr val="1D1D1F"/>
                </a:solidFill>
                <a:latin typeface="Helvetica Neue"/>
              </a:rPr>
              <a:t>-  5 techniques from the AMEX Kaggle write-ups tested (DART, high min_data_in_leaf, feature_fraction_bynode, recency-window aggregates, within-customer ranks), none adopted.</a:t>
            </a:r>
          </a:p>
          <a:p>
            <a:pPr>
              <a:lnSpc>
                <a:spcPct val="108000"/>
              </a:lnSpc>
              <a:spcAft>
                <a:spcPts val="1000"/>
              </a:spcAft>
            </a:pPr>
            <a:r>
              <a:rPr sz="1650">
                <a:solidFill>
                  <a:srgbClr val="1D1D1F"/>
                </a:solidFill>
                <a:latin typeface="Helvetica Neue"/>
              </a:rPr>
              <a:t>-  Next investigation is new information, not further tuning: e.g. whether EDUCATION "other" is a genuinely homogeneous group.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A3</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Ensemble weight search and calibration</a:t>
            </a:r>
          </a:p>
        </p:txBody>
      </p:sp>
      <p:sp>
        <p:nvSpPr>
          <p:cNvPr id="5" name="TextBox 4"/>
          <p:cNvSpPr txBox="1"/>
          <p:nvPr/>
        </p:nvSpPr>
        <p:spPr>
          <a:xfrm>
            <a:off x="640080" y="1645920"/>
            <a:ext cx="6035040" cy="4754880"/>
          </a:xfrm>
          <a:prstGeom prst="rect">
            <a:avLst/>
          </a:prstGeom>
          <a:noFill/>
        </p:spPr>
        <p:txBody>
          <a:bodyPr wrap="square" lIns="0" rIns="0" tIns="0" bIns="0">
            <a:spAutoFit/>
          </a:bodyPr>
          <a:lstStyle/>
          <a:p>
            <a:pPr>
              <a:lnSpc>
                <a:spcPct val="108000"/>
              </a:lnSpc>
              <a:spcAft>
                <a:spcPts val="1000"/>
              </a:spcAft>
            </a:pPr>
            <a:r>
              <a:rPr sz="1500">
                <a:solidFill>
                  <a:srgbClr val="1D1D1F"/>
                </a:solidFill>
                <a:latin typeface="Helvetica Neue"/>
              </a:rPr>
              <a:t>-  Grid search over ~230 valid weight triples (0.05 steps) on OOF log loss; nothing is fitted.</a:t>
            </a:r>
          </a:p>
          <a:p>
            <a:pPr>
              <a:lnSpc>
                <a:spcPct val="108000"/>
              </a:lnSpc>
              <a:spcAft>
                <a:spcPts val="1000"/>
              </a:spcAft>
            </a:pPr>
            <a:r>
              <a:rPr sz="1500">
                <a:solidFill>
                  <a:srgbClr val="1D1D1F"/>
                </a:solidFill>
                <a:latin typeface="Helvetica Neue"/>
              </a:rPr>
              <a:t>-  (1.00, 0.00, 0.00) 0.42211 → (0.65, 0.35, 0.00) 0.42155 → (0.55, 0.30, 0.15) 0.42141 → (0.45, 0.30, 0.25) selected 0.42136 → (0.34, 0.33, 0.33) equal 0.42147.</a:t>
            </a:r>
          </a:p>
          <a:p>
            <a:pPr>
              <a:lnSpc>
                <a:spcPct val="108000"/>
              </a:lnSpc>
              <a:spcAft>
                <a:spcPts val="1000"/>
              </a:spcAft>
            </a:pPr>
            <a:r>
              <a:rPr sz="1500">
                <a:solidFill>
                  <a:srgbClr val="1D1D1F"/>
                </a:solidFill>
                <a:latin typeface="Helvetica Neue"/>
              </a:rPr>
              <a:t>-  Broad plateau: every LightGBM weight 0.50-0.70 lands within 0.0001 of the optimum. Shrinking weights toward uniform made hidden test worse (0.41045 vs. 0.41032), the standard overfitting check the fitted weights passed.</a:t>
            </a:r>
          </a:p>
          <a:p>
            <a:pPr>
              <a:lnSpc>
                <a:spcPct val="108000"/>
              </a:lnSpc>
              <a:spcAft>
                <a:spcPts val="1000"/>
              </a:spcAft>
            </a:pPr>
            <a:r>
              <a:rPr sz="1500">
                <a:solidFill>
                  <a:srgbClr val="1D1D1F"/>
                </a:solidFill>
                <a:latin typeface="Helvetica Neue"/>
              </a:rPr>
              <a:t>-  4 calibration schemes tested under nested CV, all worse than no calibration: Platt (−0.00005), per-segment (−0.00030), isotonic (−0.00330), base-rate pull (α=1.0, i.e. no adjustment selected).</a:t>
            </a:r>
          </a:p>
          <a:p>
            <a:pPr>
              <a:lnSpc>
                <a:spcPct val="108000"/>
              </a:lnSpc>
              <a:spcAft>
                <a:spcPts val="1000"/>
              </a:spcAft>
            </a:pPr>
            <a:r>
              <a:rPr sz="1500">
                <a:solidFill>
                  <a:srgbClr val="1D1D1F"/>
                </a:solidFill>
                <a:latin typeface="Helvetica Neue"/>
              </a:rPr>
              <a:t>-  Post-processing: one clip to [1e-4, 1-1e-4] and nothing else. No value hand-edited.</a:t>
            </a:r>
          </a:p>
        </p:txBody>
      </p:sp>
      <p:pic>
        <p:nvPicPr>
          <p:cNvPr id="6" name="Picture 5" descr="weight_search_plateau.png"/>
          <p:cNvPicPr>
            <a:picLocks noChangeAspect="1"/>
          </p:cNvPicPr>
          <p:nvPr/>
        </p:nvPicPr>
        <p:blipFill>
          <a:blip r:embed="rId2"/>
          <a:stretch>
            <a:fillRect/>
          </a:stretch>
        </p:blipFill>
        <p:spPr>
          <a:xfrm>
            <a:off x="6949440" y="2623828"/>
            <a:ext cx="4572000" cy="261618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A4</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SHAP detail</a:t>
            </a:r>
          </a:p>
        </p:txBody>
      </p:sp>
      <p:sp>
        <p:nvSpPr>
          <p:cNvPr id="5" name="TextBox 4"/>
          <p:cNvSpPr txBox="1"/>
          <p:nvPr/>
        </p:nvSpPr>
        <p:spPr>
          <a:xfrm>
            <a:off x="640080" y="1645920"/>
            <a:ext cx="10911535" cy="4754880"/>
          </a:xfrm>
          <a:prstGeom prst="rect">
            <a:avLst/>
          </a:prstGeom>
          <a:noFill/>
        </p:spPr>
        <p:txBody>
          <a:bodyPr wrap="square" lIns="0" rIns="0" tIns="0" bIns="0">
            <a:spAutoFit/>
          </a:bodyPr>
          <a:lstStyle/>
          <a:p>
            <a:pPr>
              <a:lnSpc>
                <a:spcPct val="108000"/>
              </a:lnSpc>
              <a:spcAft>
                <a:spcPts val="1000"/>
              </a:spcAft>
            </a:pPr>
            <a:r>
              <a:rPr sz="1450">
                <a:solidFill>
                  <a:srgbClr val="1D1D1F"/>
                </a:solidFill>
                <a:latin typeface="Helvetica Neue"/>
              </a:rPr>
              <a:t>-  Full SHAP summary (14 features) and per-customer waterfalls for the highest- and lowest-risk predictions available on request.</a:t>
            </a:r>
          </a:p>
          <a:p>
            <a:pPr>
              <a:lnSpc>
                <a:spcPct val="108000"/>
              </a:lnSpc>
              <a:spcAft>
                <a:spcPts val="1000"/>
              </a:spcAft>
            </a:pPr>
            <a:r>
              <a:rPr sz="1450">
                <a:solidFill>
                  <a:srgbClr val="1D1D1F"/>
                </a:solidFill>
                <a:latin typeface="Helvetica Neue"/>
              </a:rPr>
              <a:t>-  SHAP explains the LightGBM component only (45% of the ensemble weight), not the GRU or TabPFN.</a:t>
            </a:r>
          </a:p>
        </p:txBody>
      </p:sp>
      <p:pic>
        <p:nvPicPr>
          <p:cNvPr id="6" name="Picture 5" descr="shap_summary.png"/>
          <p:cNvPicPr>
            <a:picLocks noChangeAspect="1"/>
          </p:cNvPicPr>
          <p:nvPr/>
        </p:nvPicPr>
        <p:blipFill>
          <a:blip r:embed="rId2"/>
          <a:stretch>
            <a:fillRect/>
          </a:stretch>
        </p:blipFill>
        <p:spPr>
          <a:xfrm>
            <a:off x="1298448" y="3017520"/>
            <a:ext cx="3803904" cy="3566160"/>
          </a:xfrm>
          <a:prstGeom prst="rect">
            <a:avLst/>
          </a:prstGeom>
        </p:spPr>
      </p:pic>
      <p:pic>
        <p:nvPicPr>
          <p:cNvPr id="7" name="Picture 6" descr="shap_waterfall_highest_risk.png"/>
          <p:cNvPicPr>
            <a:picLocks noChangeAspect="1"/>
          </p:cNvPicPr>
          <p:nvPr/>
        </p:nvPicPr>
        <p:blipFill>
          <a:blip r:embed="rId3"/>
          <a:stretch>
            <a:fillRect/>
          </a:stretch>
        </p:blipFill>
        <p:spPr>
          <a:xfrm>
            <a:off x="6035040" y="3514725"/>
            <a:ext cx="2743200" cy="2571750"/>
          </a:xfrm>
          <a:prstGeom prst="rect">
            <a:avLst/>
          </a:prstGeom>
        </p:spPr>
      </p:pic>
      <p:pic>
        <p:nvPicPr>
          <p:cNvPr id="8" name="Picture 7" descr="shap_waterfall_lowest_risk.png"/>
          <p:cNvPicPr>
            <a:picLocks noChangeAspect="1"/>
          </p:cNvPicPr>
          <p:nvPr/>
        </p:nvPicPr>
        <p:blipFill>
          <a:blip r:embed="rId4"/>
          <a:stretch>
            <a:fillRect/>
          </a:stretch>
        </p:blipFill>
        <p:spPr>
          <a:xfrm>
            <a:off x="8961120" y="3514725"/>
            <a:ext cx="2743200" cy="25717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A5</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Subgroup fairness audit</a:t>
            </a:r>
          </a:p>
        </p:txBody>
      </p:sp>
      <p:sp>
        <p:nvSpPr>
          <p:cNvPr id="5" name="TextBox 4"/>
          <p:cNvSpPr txBox="1"/>
          <p:nvPr/>
        </p:nvSpPr>
        <p:spPr>
          <a:xfrm>
            <a:off x="640080" y="1645920"/>
            <a:ext cx="10911535" cy="4754880"/>
          </a:xfrm>
          <a:prstGeom prst="rect">
            <a:avLst/>
          </a:prstGeom>
          <a:noFill/>
        </p:spPr>
        <p:txBody>
          <a:bodyPr wrap="square" lIns="0" rIns="0" tIns="0" bIns="0">
            <a:spAutoFit/>
          </a:bodyPr>
          <a:lstStyle/>
          <a:p>
            <a:pPr>
              <a:lnSpc>
                <a:spcPct val="108000"/>
              </a:lnSpc>
              <a:spcAft>
                <a:spcPts val="1000"/>
              </a:spcAft>
            </a:pPr>
            <a:r>
              <a:rPr sz="1650">
                <a:solidFill>
                  <a:srgbClr val="1D1D1F"/>
                </a:solidFill>
                <a:latin typeface="Helvetica Neue"/>
              </a:rPr>
              <a:t>-  EDUCATION = "other": n=387, 28 defaults (7.2% observed rate).</a:t>
            </a:r>
          </a:p>
          <a:p>
            <a:pPr>
              <a:lnSpc>
                <a:spcPct val="108000"/>
              </a:lnSpc>
              <a:spcAft>
                <a:spcPts val="1000"/>
              </a:spcAft>
            </a:pPr>
            <a:r>
              <a:rPr sz="1650">
                <a:solidFill>
                  <a:srgbClr val="1D1D1F"/>
                </a:solidFill>
                <a:latin typeface="Helvetica Neue"/>
              </a:rPr>
              <a:t>-  Risk over-predicted by approximately 61% relative to the observed rate.</a:t>
            </a:r>
          </a:p>
          <a:p>
            <a:pPr>
              <a:lnSpc>
                <a:spcPct val="108000"/>
              </a:lnSpc>
              <a:spcAft>
                <a:spcPts val="1000"/>
              </a:spcAft>
            </a:pPr>
            <a:r>
              <a:rPr sz="1650">
                <a:solidFill>
                  <a:srgbClr val="1D1D1F"/>
                </a:solidFill>
                <a:latin typeface="Helvetica Neue"/>
              </a:rPr>
              <a:t>-  AUC 0.645 in this subgroup versus approximately 0.79 elsewhere, the only segment where the model underperforms its own base-rate guess.</a:t>
            </a:r>
          </a:p>
          <a:p>
            <a:pPr>
              <a:lnSpc>
                <a:spcPct val="108000"/>
              </a:lnSpc>
              <a:spcAft>
                <a:spcPts val="1000"/>
              </a:spcAft>
            </a:pPr>
            <a:r>
              <a:rPr sz="1650">
                <a:solidFill>
                  <a:srgbClr val="1D1D1F"/>
                </a:solidFill>
                <a:latin typeface="Helvetica Neue"/>
              </a:rPr>
              <a:t>-  This is a heterogeneous, undocumented category and should route to manual review rather than support an automated adverse decision.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A6</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Reproducibility and disclosure</a:t>
            </a:r>
          </a:p>
        </p:txBody>
      </p:sp>
      <p:sp>
        <p:nvSpPr>
          <p:cNvPr id="5" name="TextBox 4"/>
          <p:cNvSpPr txBox="1"/>
          <p:nvPr/>
        </p:nvSpPr>
        <p:spPr>
          <a:xfrm>
            <a:off x="640080" y="1645920"/>
            <a:ext cx="10911535" cy="4754880"/>
          </a:xfrm>
          <a:prstGeom prst="rect">
            <a:avLst/>
          </a:prstGeom>
          <a:noFill/>
        </p:spPr>
        <p:txBody>
          <a:bodyPr wrap="square" lIns="0" rIns="0" tIns="0" bIns="0">
            <a:spAutoFit/>
          </a:bodyPr>
          <a:lstStyle/>
          <a:p>
            <a:pPr>
              <a:lnSpc>
                <a:spcPct val="108000"/>
              </a:lnSpc>
              <a:spcAft>
                <a:spcPts val="1000"/>
              </a:spcAft>
            </a:pPr>
            <a:r>
              <a:rPr sz="1650">
                <a:solidFill>
                  <a:srgbClr val="1D1D1F"/>
                </a:solidFill>
                <a:latin typeface="Helvetica Neue"/>
              </a:rPr>
              <a:t>-  Saved OOF and test prediction vectors are committed under artifacts/; applying the 0.45/0.30/0.25 weighted average and the clip reconstructs the submission to 9.7e-17, in seconds, without rerunning the ~3-hour TabPFN pass.</a:t>
            </a:r>
          </a:p>
          <a:p>
            <a:pPr>
              <a:lnSpc>
                <a:spcPct val="108000"/>
              </a:lnSpc>
              <a:spcAft>
                <a:spcPts val="1000"/>
              </a:spcAft>
            </a:pPr>
            <a:r>
              <a:rPr sz="1650">
                <a:solidFill>
                  <a:srgbClr val="1D1D1F"/>
                </a:solidFill>
                <a:latin typeface="Helvetica Neue"/>
              </a:rPr>
              <a:t>-  Pretrained model: TabPFN (Prior Labs, tabpfn package v8.5.0), requires a licence and API token; performs in-context learning, fits zero parameters to this dataset.</a:t>
            </a:r>
          </a:p>
          <a:p>
            <a:pPr>
              <a:lnSpc>
                <a:spcPct val="108000"/>
              </a:lnSpc>
              <a:spcAft>
                <a:spcPts val="1000"/>
              </a:spcAft>
            </a:pPr>
            <a:r>
              <a:rPr sz="1650">
                <a:solidFill>
                  <a:srgbClr val="1D1D1F"/>
                </a:solidFill>
                <a:latin typeface="Helvetica Neue"/>
              </a:rPr>
              <a:t>-  No external datasets used. AMEX winning-solution write-ups were consulted; 5 techniques tested, none adopted.</a:t>
            </a:r>
          </a:p>
          <a:p>
            <a:pPr>
              <a:lnSpc>
                <a:spcPct val="108000"/>
              </a:lnSpc>
              <a:spcAft>
                <a:spcPts val="1000"/>
              </a:spcAft>
            </a:pPr>
            <a:r>
              <a:rPr sz="1650">
                <a:solidFill>
                  <a:srgbClr val="1D1D1F"/>
                </a:solidFill>
                <a:latin typeface="Helvetica Neue"/>
              </a:rPr>
              <a:t>-  Claude Code (Anthropic) used throughout for code, experiments and drafting these documents; all modelling decisions were taken on measured cross-validation results.</a:t>
            </a:r>
          </a:p>
          <a:p>
            <a:pPr>
              <a:lnSpc>
                <a:spcPct val="108000"/>
              </a:lnSpc>
              <a:spcAft>
                <a:spcPts val="1000"/>
              </a:spcAft>
            </a:pPr>
            <a:r>
              <a:rPr sz="1650">
                <a:solidFill>
                  <a:srgbClr val="1D1D1F"/>
                </a:solidFill>
                <a:latin typeface="Helvetica Neue"/>
              </a:rPr>
              <a:t>-  No manual modification of predictions beyond the [1e-4, 1-1e-4] clip. No calibration applied.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anchor="t" lIns="0" rIns="0" tIns="0" bIns="0">
            <a:spAutoFit/>
          </a:bodyPr>
          <a:lstStyle/>
          <a:p>
            <a:pPr algn="l">
              <a:lnSpc>
                <a:spcPct val="100000"/>
              </a:lnSpc>
            </a:pPr>
            <a:r>
              <a:rPr sz="1250" b="1" i="0">
                <a:solidFill>
                  <a:srgbClr val="0071E3"/>
                </a:solidFill>
                <a:latin typeface="Helvetica Neue"/>
              </a:rPr>
              <a:t>APPENDIX · A7</a:t>
            </a:r>
          </a:p>
        </p:txBody>
      </p:sp>
      <p:sp>
        <p:nvSpPr>
          <p:cNvPr id="4" name="TextBox 3"/>
          <p:cNvSpPr txBox="1"/>
          <p:nvPr/>
        </p:nvSpPr>
        <p:spPr>
          <a:xfrm>
            <a:off x="640080" y="777240"/>
            <a:ext cx="10881360" cy="914400"/>
          </a:xfrm>
          <a:prstGeom prst="rect">
            <a:avLst/>
          </a:prstGeom>
          <a:noFill/>
        </p:spPr>
        <p:txBody>
          <a:bodyPr wrap="square" anchor="t" lIns="0" rIns="0" tIns="0" bIns="0">
            <a:spAutoFit/>
          </a:bodyPr>
          <a:lstStyle/>
          <a:p>
            <a:pPr algn="l">
              <a:lnSpc>
                <a:spcPct val="100000"/>
              </a:lnSpc>
            </a:pPr>
            <a:r>
              <a:rPr sz="2800" b="1" i="0">
                <a:solidFill>
                  <a:srgbClr val="1D1D1F"/>
                </a:solidFill>
                <a:latin typeface="Helvetica Neue"/>
              </a:rPr>
              <a:t>Operational thresholds and OOF vs. hidden-test gaps</a:t>
            </a:r>
          </a:p>
        </p:txBody>
      </p:sp>
      <p:sp>
        <p:nvSpPr>
          <p:cNvPr id="5" name="TextBox 4"/>
          <p:cNvSpPr txBox="1"/>
          <p:nvPr/>
        </p:nvSpPr>
        <p:spPr>
          <a:xfrm>
            <a:off x="640080" y="1645920"/>
            <a:ext cx="10911535" cy="4754880"/>
          </a:xfrm>
          <a:prstGeom prst="rect">
            <a:avLst/>
          </a:prstGeom>
          <a:noFill/>
        </p:spPr>
        <p:txBody>
          <a:bodyPr wrap="square" lIns="0" rIns="0" tIns="0" bIns="0">
            <a:spAutoFit/>
          </a:bodyPr>
          <a:lstStyle/>
          <a:p>
            <a:pPr>
              <a:lnSpc>
                <a:spcPct val="108000"/>
              </a:lnSpc>
              <a:spcAft>
                <a:spcPts val="1000"/>
              </a:spcAft>
            </a:pPr>
            <a:r>
              <a:rPr sz="1650">
                <a:solidFill>
                  <a:srgbClr val="1D1D1F"/>
                </a:solidFill>
                <a:latin typeface="Helvetica Neue"/>
              </a:rPr>
              <a:t>-  OOF and hidden-test improvements can diverge because OOF rows are only ever scored by models that didn't see them, while hidden-test rows are scored by the average of all folds, e.g. the sixth CV partition helped OOF by 0.00024 and did nothing on hidden test.</a:t>
            </a:r>
          </a:p>
          <a:p>
            <a:pPr>
              <a:lnSpc>
                <a:spcPct val="108000"/>
              </a:lnSpc>
              <a:spcAft>
                <a:spcPts val="1000"/>
              </a:spcAft>
            </a:pPr>
            <a:r>
              <a:rPr sz="1650">
                <a:solidFill>
                  <a:srgbClr val="1D1D1F"/>
                </a:solidFill>
                <a:latin typeface="Helvetica Neue"/>
              </a:rPr>
              <a:t>-  Decision thresholds should be set from business cost, regulatory requirement and review capacity, not the competition log loss score alone.</a:t>
            </a:r>
          </a:p>
          <a:p>
            <a:pPr>
              <a:lnSpc>
                <a:spcPct val="108000"/>
              </a:lnSpc>
              <a:spcAft>
                <a:spcPts val="1000"/>
              </a:spcAft>
            </a:pPr>
            <a:r>
              <a:rPr sz="1650">
                <a:solidFill>
                  <a:srgbClr val="1D1D1F"/>
                </a:solidFill>
                <a:latin typeface="Helvetica Neue"/>
              </a:rPr>
              <a:t>-  False positive: unnecessary review, reduced credit or an adverse decision for a reliable customer. False negative: missed default, underestimated loss, missed early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